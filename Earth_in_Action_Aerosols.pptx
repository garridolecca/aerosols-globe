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EARTH IN ACTION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Aerosols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GPU-Accelerated Atmospheric Aerosol Transport Visualization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Projection | 6-Pass GPU Pipeline | Real NASA 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Garrido-Lecca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GEOS-FP  |  NVIDIA WebGPU  |  ArcGIS Maps SDK 5.0  |  Robinson Projection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4160520"/>
            <a:ext cx="960120" cy="777240"/>
          </a:xfrm>
          <a:prstGeom prst="rect">
            <a:avLst>
              <a:gd name="adj" fmla="val 7059"/>
            </a:avLst>
          </a:prstGeom>
          <a:solidFill>
            <a:srgbClr val="1A223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416052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46360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PARTICLES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6080760" y="4160520"/>
            <a:ext cx="960120" cy="777240"/>
          </a:xfrm>
          <a:prstGeom prst="rect">
            <a:avLst>
              <a:gd name="adj" fmla="val 7059"/>
            </a:avLst>
          </a:prstGeom>
          <a:solidFill>
            <a:srgbClr val="1A2236"/>
          </a:solidFill>
          <a:ln/>
        </p:spPr>
      </p:sp>
      <p:sp>
        <p:nvSpPr>
          <p:cNvPr id="12" name="Text 10"/>
          <p:cNvSpPr/>
          <p:nvPr/>
        </p:nvSpPr>
        <p:spPr>
          <a:xfrm>
            <a:off x="6080760" y="416052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6-PASS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80760" y="46360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PIPELINE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7132320" y="4160520"/>
            <a:ext cx="960120" cy="777240"/>
          </a:xfrm>
          <a:prstGeom prst="rect">
            <a:avLst>
              <a:gd name="adj" fmla="val 7059"/>
            </a:avLst>
          </a:prstGeom>
          <a:solidFill>
            <a:srgbClr val="1A223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416052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BLOOM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0" y="46360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8183880" y="4160520"/>
            <a:ext cx="960120" cy="777240"/>
          </a:xfrm>
          <a:prstGeom prst="rect">
            <a:avLst>
              <a:gd name="adj" fmla="val 7059"/>
            </a:avLst>
          </a:prstGeom>
          <a:solidFill>
            <a:srgbClr val="1A2236"/>
          </a:solidFill>
          <a:ln/>
        </p:spPr>
      </p:sp>
      <p:sp>
        <p:nvSpPr>
          <p:cNvPr id="18" name="Text 16"/>
          <p:cNvSpPr/>
          <p:nvPr/>
        </p:nvSpPr>
        <p:spPr>
          <a:xfrm>
            <a:off x="8183880" y="416052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WGSL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83880" y="46360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Visualizing Invisible Particles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Aerosols are tiny particles suspended in Earth's atmosphere. They influence climate, air quality, and human health, but are invisible to the eye and complex to visualize at global scale.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7680960" cy="420624"/>
          </a:xfrm>
          <a:prstGeom prst="rect">
            <a:avLst>
              <a:gd name="adj" fmla="val 10870"/>
            </a:avLst>
          </a:prstGeom>
          <a:solidFill>
            <a:srgbClr val="1A223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404872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04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2350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images miss movement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253288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Aerosols are transported by wind — snapshots don't show flow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2843784"/>
            <a:ext cx="7680960" cy="420624"/>
          </a:xfrm>
          <a:prstGeom prst="rect">
            <a:avLst>
              <a:gd name="adj" fmla="val 10870"/>
            </a:avLst>
          </a:prstGeom>
          <a:solidFill>
            <a:srgbClr val="1A2236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916936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916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28620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rendering is too slow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044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2D handles ~8K particles before frame drops at 60 FPS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3355848"/>
            <a:ext cx="7680960" cy="420624"/>
          </a:xfrm>
          <a:prstGeom prst="rect">
            <a:avLst>
              <a:gd name="adj" fmla="val 10870"/>
            </a:avLst>
          </a:prstGeom>
          <a:solidFill>
            <a:srgbClr val="1A2236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3429000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71600" y="33741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data is mixed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3557016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aerosol type (dust, carbon, salt) has distinct transport patterns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20" y="3867912"/>
            <a:ext cx="7680960" cy="420624"/>
          </a:xfrm>
          <a:prstGeom prst="rect">
            <a:avLst>
              <a:gd name="adj" fmla="val 10870"/>
            </a:avLst>
          </a:prstGeom>
          <a:solidFill>
            <a:srgbClr val="1A2236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3941064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371600" y="3886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accessible real-time pipeline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406908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data typically requires authentication and complex processing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79976"/>
            <a:ext cx="7680960" cy="420624"/>
          </a:xfrm>
          <a:prstGeom prst="rect">
            <a:avLst>
              <a:gd name="adj" fmla="val 10870"/>
            </a:avLst>
          </a:prstGeom>
          <a:solidFill>
            <a:srgbClr val="1A2236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400" y="445312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453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43982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projections distort poles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71600" y="4581144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Mercator exaggerates high latitudes — Robinson shows true proportions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End-to-End Aerosol Transport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1627632" cy="3017520"/>
          </a:xfrm>
          <a:prstGeom prst="rect">
            <a:avLst>
              <a:gd name="adj" fmla="val 3933"/>
            </a:avLst>
          </a:prstGeom>
          <a:solidFill>
            <a:srgbClr val="1A2236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7373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GEOS-FP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269748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wind + aerosol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 deg global, OPeNDAP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993392" y="256032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21408" y="1554480"/>
            <a:ext cx="1627632" cy="3017520"/>
          </a:xfrm>
          <a:prstGeom prst="rect">
            <a:avLst>
              <a:gd name="adj" fmla="val 3933"/>
            </a:avLst>
          </a:prstGeom>
          <a:solidFill>
            <a:srgbClr val="1A2236"/>
          </a:solidFill>
          <a:ln/>
        </p:spPr>
      </p:sp>
      <p:sp>
        <p:nvSpPr>
          <p:cNvPr id="12" name="Shape 10"/>
          <p:cNvSpPr/>
          <p:nvPr/>
        </p:nvSpPr>
        <p:spPr>
          <a:xfrm>
            <a:off x="2706624" y="173736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270662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94560" y="23317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Pipeline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69748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wind by aerosol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= wind x norm(conc)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Per-species processing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49040" y="256032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77056" y="1554480"/>
            <a:ext cx="1627632" cy="3017520"/>
          </a:xfrm>
          <a:prstGeom prst="rect">
            <a:avLst>
              <a:gd name="adj" fmla="val 3933"/>
            </a:avLst>
          </a:prstGeom>
          <a:solidFill>
            <a:srgbClr val="1A2236"/>
          </a:solidFill>
          <a:ln/>
        </p:spPr>
      </p:sp>
      <p:sp>
        <p:nvSpPr>
          <p:cNvPr id="18" name="Shape 16"/>
          <p:cNvSpPr/>
          <p:nvPr/>
        </p:nvSpPr>
        <p:spPr>
          <a:xfrm>
            <a:off x="4462272" y="173736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4622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50208" y="23317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Encoding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50208" y="269748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U-&gt;Red, V-&gt;Green, Mag-&gt;Blue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KB per species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360x181 grid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504688" y="256032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32704" y="1554480"/>
            <a:ext cx="1627632" cy="3017520"/>
          </a:xfrm>
          <a:prstGeom prst="rect">
            <a:avLst>
              <a:gd name="adj" fmla="val 3933"/>
            </a:avLst>
          </a:prstGeom>
          <a:solidFill>
            <a:srgbClr val="1A2236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6B9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05856" y="23317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WebGPU Compute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05856" y="269748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particles on GPU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6-pass WGSL pipeline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 post-processing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260336" y="256032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88352" y="1554480"/>
            <a:ext cx="1627632" cy="3017520"/>
          </a:xfrm>
          <a:prstGeom prst="rect">
            <a:avLst>
              <a:gd name="adj" fmla="val 3933"/>
            </a:avLst>
          </a:prstGeom>
          <a:solidFill>
            <a:srgbClr val="1A2236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73736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461504" y="23317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Output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61504" y="269748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WMO dark basemap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animation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DATA ACQUISITION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NASA GEOS-FP Forward Processing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atmospheric data streamed via OPeNDAP — no authentication required.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3749040" cy="2743200"/>
          </a:xfrm>
          <a:prstGeom prst="rect">
            <a:avLst>
              <a:gd name="adj" fmla="val 2333"/>
            </a:avLst>
          </a:prstGeom>
          <a:solidFill>
            <a:srgbClr val="1A223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VECTORS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4231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U10M — Eastward wind at 10m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V10M — Northward wind at 10m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Resolution: 0.25 deg global (~28 km)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3-hourly, rolling ~3 weeks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OPeNDAP (zero authentication)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opendap.nccs.nasa.gov/dods/GEOS-5/fp/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3749040" cy="2743200"/>
          </a:xfrm>
          <a:prstGeom prst="rect">
            <a:avLst>
              <a:gd name="adj" fmla="val 2333"/>
            </a:avLst>
          </a:prstGeom>
          <a:solidFill>
            <a:srgbClr val="1A2236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AEROSOL SPECIES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2487168"/>
            <a:ext cx="109728" cy="109728"/>
          </a:xfrm>
          <a:prstGeom prst="rect">
            <a:avLst>
              <a:gd name="adj" fmla="val 16667"/>
            </a:avLst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5257800" y="24505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BCSMASS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24505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Carbon (combustion, soot)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0" y="2889504"/>
            <a:ext cx="109728" cy="109728"/>
          </a:xfrm>
          <a:prstGeom prst="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28529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DUSMASS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8529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Dust (Sahara, Gobi)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0" y="3291840"/>
            <a:ext cx="109728" cy="109728"/>
          </a:xfrm>
          <a:prstGeom prst="rect">
            <a:avLst>
              <a:gd name="adj" fmla="val 16667"/>
            </a:avLst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32552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SSSMASS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32552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Salt (ocean spray)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0" y="3694176"/>
            <a:ext cx="109728" cy="109728"/>
          </a:xfrm>
          <a:prstGeom prst="rect">
            <a:avLst>
              <a:gd name="adj" fmla="val 16667"/>
            </a:avLst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5257800" y="36576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OCSMASS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3657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Carbon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0" y="4096512"/>
            <a:ext cx="109728" cy="109728"/>
          </a:xfrm>
          <a:prstGeom prst="rect">
            <a:avLst>
              <a:gd name="adj" fmla="val 16667"/>
            </a:avLst>
          </a:prstGeom>
          <a:solidFill>
            <a:srgbClr val="94A3B8"/>
          </a:solidFill>
          <a:ln/>
        </p:spPr>
      </p:sp>
      <p:sp>
        <p:nvSpPr>
          <p:cNvPr id="24" name="Text 22"/>
          <p:cNvSpPr/>
          <p:nvPr/>
        </p:nvSpPr>
        <p:spPr>
          <a:xfrm>
            <a:off x="5257800" y="40599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SO4SMASS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Sulfate Aerosols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0" y="42976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kg/m2 surface mass concentration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2-3: PROCESSING + ENCODING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Aerosol Flux Computation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640080"/>
          </a:xfrm>
          <a:prstGeom prst="rect">
            <a:avLst>
              <a:gd name="adj" fmla="val 10000"/>
            </a:avLst>
          </a:prstGeom>
          <a:solidFill>
            <a:srgbClr val="1A22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08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= wind_vector  x  normalize( aerosol_concentration, P95 )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direction is preserved, but magnitude scales by aerosol concentration.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dense where concentration is high, absent where air is clean.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3749040" cy="1828800"/>
          </a:xfrm>
          <a:prstGeom prst="rect">
            <a:avLst>
              <a:gd name="adj" fmla="val 3500"/>
            </a:avLst>
          </a:prstGeom>
          <a:solidFill>
            <a:srgbClr val="1A223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CHANNEL ENCODING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05840" y="3383280"/>
            <a:ext cx="128016" cy="128016"/>
          </a:xfrm>
          <a:prstGeom prst="rect">
            <a:avLst>
              <a:gd name="adj" fmla="val 14286"/>
            </a:avLst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3649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Channel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3364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component [-max, +max] -&gt; [0, 255]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3730752"/>
            <a:ext cx="128016" cy="128016"/>
          </a:xfrm>
          <a:prstGeom prst="rect">
            <a:avLst>
              <a:gd name="adj" fmla="val 14286"/>
            </a:avLst>
          </a:prstGeom>
          <a:solidFill>
            <a:srgbClr val="76B900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371246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Channel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712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component [-max, +max] -&gt; [0, 255]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05840" y="4078224"/>
            <a:ext cx="128016" cy="128016"/>
          </a:xfrm>
          <a:prstGeom prst="rect">
            <a:avLst>
              <a:gd name="adj" fmla="val 14286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40599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Channel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Magnitude [0, max] -&gt; [0, 255]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3749040" cy="1828800"/>
          </a:xfrm>
          <a:prstGeom prst="rect">
            <a:avLst>
              <a:gd name="adj" fmla="val 3500"/>
            </a:avLst>
          </a:prstGeom>
          <a:solidFill>
            <a:srgbClr val="1A2236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3832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composite.png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75120" y="338328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KB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338328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species combined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37760" y="370332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black_carbon.png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75120" y="370332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KB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0" y="370332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+ wildfires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37760" y="402336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dust.png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75120" y="40233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40233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dust transport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37760" y="434340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sea_salt.png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75120" y="43434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KB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434340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aerosols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37760" y="457200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360x181 pixels | 1 deg resolution | GitHub Pages hosted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NVIDIA WebGPU RENDERING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6-Pass GPU Pipeline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COMPUTE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4747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Advect 500K particles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textureLoad() sampling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Ping-pong buffers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7,813 workgroups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00200" y="25603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11" name="Shape 9"/>
          <p:cNvSpPr/>
          <p:nvPr/>
        </p:nvSpPr>
        <p:spPr>
          <a:xfrm>
            <a:off x="173736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FADE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81051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effect via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ping-pong textures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opacity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flowing trails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RENDER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7355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Instanced quads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by concentration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SDF glow + additive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projection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26280" y="25603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BLOOM 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73659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blur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9-tap Gaussian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resolution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threshold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89320" y="25603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BLOOM V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9963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blur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composite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onto trail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Cinematic neon glow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452360" y="25603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89520" y="1508760"/>
            <a:ext cx="1325880" cy="2834640"/>
          </a:xfrm>
          <a:prstGeom prst="rect">
            <a:avLst>
              <a:gd name="adj" fmla="val 4138"/>
            </a:avLst>
          </a:prstGeom>
          <a:solidFill>
            <a:srgbClr val="1A2236"/>
          </a:solidFill>
          <a:ln/>
        </p:spPr>
      </p:sp>
      <p:sp>
        <p:nvSpPr>
          <p:cNvPr id="31" name="Shape 29"/>
          <p:cNvSpPr/>
          <p:nvPr/>
        </p:nvSpPr>
        <p:spPr>
          <a:xfrm>
            <a:off x="7589520" y="1508760"/>
            <a:ext cx="1325880" cy="320040"/>
          </a:xfrm>
          <a:prstGeom prst="rect">
            <a:avLst>
              <a:gd name="adj" fmla="val 17143"/>
            </a:avLst>
          </a:prstGeom>
          <a:solidFill>
            <a:srgbClr val="76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152704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SCREEN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662672" y="1965960"/>
            <a:ext cx="11795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to swapchain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Premultiplied alpha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on basemap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output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526280"/>
            <a:ext cx="8595360" cy="365760"/>
          </a:xfrm>
          <a:prstGeom prst="rect">
            <a:avLst>
              <a:gd name="adj" fmla="val 12500"/>
            </a:avLst>
          </a:prstGeom>
          <a:solidFill>
            <a:srgbClr val="1A2236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54456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2D: ~8,000 particles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474720" y="45445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WebGPU Compute: 500,000 particles + GPU Bloom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0" y="45445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6B9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62x faster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Concentration Sizing + Bloom Post-Processing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749040" cy="3200400"/>
          </a:xfrm>
          <a:prstGeom prst="rect">
            <a:avLst>
              <a:gd name="adj" fmla="val 2000"/>
            </a:avLst>
          </a:prstGeom>
          <a:solidFill>
            <a:srgbClr val="1A223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508760"/>
            <a:ext cx="3749040" cy="320040"/>
          </a:xfrm>
          <a:prstGeom prst="rect">
            <a:avLst>
              <a:gd name="adj" fmla="val 20000"/>
            </a:avLst>
          </a:prstGeom>
          <a:solidFill>
            <a:srgbClr val="76B9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27048"/>
            <a:ext cx="3383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SIZE BY CONCENTRATION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shader scales each particle: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sizeMult = 0.3 + t * 1.5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 = speed / maxMag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concentration (clean air):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0.3x size — thin, faint wisps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concentration (India, Sahara):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1.8x size — thick, bright trails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performance cost — runs per-vertex on GPU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08760"/>
            <a:ext cx="3749040" cy="3200400"/>
          </a:xfrm>
          <a:prstGeom prst="rect">
            <a:avLst>
              <a:gd name="adj" fmla="val 2000"/>
            </a:avLst>
          </a:prstGeom>
          <a:solidFill>
            <a:srgbClr val="1A2236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508760"/>
            <a:ext cx="3749040" cy="320040"/>
          </a:xfrm>
          <a:prstGeom prst="rect">
            <a:avLst>
              <a:gd name="adj" fmla="val 20000"/>
            </a:avLst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27048"/>
            <a:ext cx="3383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BLOOM POST-PROCESSING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extra GPU render passes: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4: Horizontal Gaussian blur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9-tap separable filter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Half resolution for performance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5: Vertical blur + composite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Additive blending onto trail texture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Brightness threshold: 0.08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cinematic neon glow halos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high-concentration hotspots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bright particles bloom — clean air stays dark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ROBINSON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Dark WMO Basemap + Full-World 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projection (WKID 54030) shows the entire world with minimal area distortion.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dark-styled WMO Robinson Agreed vector tiles provide the basemap.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7680960" cy="2560320"/>
          </a:xfrm>
          <a:prstGeom prst="rect">
            <a:avLst>
              <a:gd name="adj" fmla="val 2500"/>
            </a:avLst>
          </a:prstGeom>
          <a:solidFill>
            <a:srgbClr val="1A223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DARK STYLE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88720" y="2697480"/>
            <a:ext cx="228600" cy="182880"/>
          </a:xfrm>
          <a:prstGeom prst="rect">
            <a:avLst>
              <a:gd name="adj" fmla="val 15000"/>
            </a:avLst>
          </a:prstGeom>
          <a:solidFill>
            <a:srgbClr val="050810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26791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0" y="26791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#050810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0" y="2679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pure black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88720" y="3017520"/>
            <a:ext cx="228600" cy="182880"/>
          </a:xfrm>
          <a:prstGeom prst="rect">
            <a:avLst>
              <a:gd name="adj" fmla="val 15000"/>
            </a:avLst>
          </a:prstGeom>
          <a:solidFill>
            <a:srgbClr val="0C1018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9992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29992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#0c1018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06240" y="2999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dark blue-black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88720" y="3337560"/>
            <a:ext cx="228600" cy="182880"/>
          </a:xfrm>
          <a:prstGeom prst="rect">
            <a:avLst>
              <a:gd name="adj" fmla="val 15000"/>
            </a:avLst>
          </a:prstGeom>
          <a:solidFill>
            <a:srgbClr val="1A3050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33192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Coastlines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17520" y="33192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#1a3050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33192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blue outline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88720" y="3657600"/>
            <a:ext cx="228600" cy="182880"/>
          </a:xfrm>
          <a:prstGeom prst="rect">
            <a:avLst>
              <a:gd name="adj" fmla="val 15000"/>
            </a:avLst>
          </a:prstGeom>
          <a:solidFill>
            <a:srgbClr val="162540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36393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1752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#162540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206240" y="36393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Faint dashed lines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88720" y="3977640"/>
            <a:ext cx="228600" cy="182880"/>
          </a:xfrm>
          <a:prstGeom prst="rect">
            <a:avLst>
              <a:gd name="adj" fmla="val 15000"/>
            </a:avLst>
          </a:prstGeom>
          <a:solidFill>
            <a:srgbClr val="0E1525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4480" y="39593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Grid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39593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#0e1525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06240" y="39593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visible grid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188720" y="4297680"/>
            <a:ext cx="228600" cy="182880"/>
          </a:xfrm>
          <a:prstGeom prst="rect">
            <a:avLst>
              <a:gd name="adj" fmla="val 15000"/>
            </a:avLst>
          </a:prstGeom>
          <a:solidFill>
            <a:srgbClr val="080C14"/>
          </a:solidFill>
          <a:ln w="6350">
            <a:solidFill>
              <a:srgbClr val="2A3A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54480" y="4279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017520" y="42793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#080c14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206240" y="4279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background fill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5840" y="461772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WMO Robinson Agreed VectorTileServer (tiles.arcgis.com)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pic>
        <p:nvPicPr>
          <p:cNvPr id="4" name="Image 0" descr="C:\Users\jhon9904\aerosols-globe\diagra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8600" y="594360"/>
            <a:ext cx="86868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garridolecca.github.io/aerosols-globe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3749040" cy="1188720"/>
          </a:xfrm>
          <a:prstGeom prst="rect">
            <a:avLst>
              <a:gd name="adj" fmla="val 5385"/>
            </a:avLst>
          </a:prstGeom>
          <a:solidFill>
            <a:srgbClr val="1A2236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3080"/>
            <a:ext cx="54864" cy="1188720"/>
          </a:xfrm>
          <a:prstGeom prst="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Aerosol Species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32688" y="2194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between Total, Black Carbon, Dust, and Sea Salt with distinct color ramps and transport patterns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783080"/>
            <a:ext cx="3749040" cy="1188720"/>
          </a:xfrm>
          <a:prstGeom prst="rect">
            <a:avLst>
              <a:gd name="adj" fmla="val 5385"/>
            </a:avLst>
          </a:prstGeom>
          <a:solidFill>
            <a:srgbClr val="1A2236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54864" cy="1188720"/>
          </a:xfrm>
          <a:prstGeom prst="rect">
            <a:avLst>
              <a:gd name="adj" fmla="val 50000"/>
            </a:avLst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4956048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Particle Controls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56048" y="2194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count (50K-1M), flow speed, trail length, and particle size. All processed on GPU in 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3749040" cy="1188720"/>
          </a:xfrm>
          <a:prstGeom prst="rect">
            <a:avLst>
              <a:gd name="adj" fmla="val 5385"/>
            </a:avLst>
          </a:prstGeom>
          <a:solidFill>
            <a:srgbClr val="1A2236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3246120"/>
            <a:ext cx="54864" cy="1188720"/>
          </a:xfrm>
          <a:prstGeom prst="rect">
            <a:avLst>
              <a:gd name="adj" fmla="val 50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3375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Dark Basemap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Full-world view with custom dark-styled WMO vector tiles. Pan and zoom with particle re-spawning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246120"/>
            <a:ext cx="3749040" cy="1188720"/>
          </a:xfrm>
          <a:prstGeom prst="rect">
            <a:avLst>
              <a:gd name="adj" fmla="val 5385"/>
            </a:avLst>
          </a:prstGeom>
          <a:solidFill>
            <a:srgbClr val="1A2236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3246120"/>
            <a:ext cx="54864" cy="1188720"/>
          </a:xfrm>
          <a:prstGeom prst="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4956048" y="33375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GPU Fallback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56048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WebGPU with 500K particles + bloom on NVIDIA GPUs. Canvas 2D with 8K particles on older browsers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Garrido-Lecca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garridolecca.github.io/aerosols-globe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1508760" cy="502920"/>
          </a:xfrm>
          <a:prstGeom prst="rect">
            <a:avLst>
              <a:gd name="adj" fmla="val 9091"/>
            </a:avLst>
          </a:prstGeom>
          <a:solidFill>
            <a:srgbClr val="1A223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GEOS-FP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77440" y="3108960"/>
            <a:ext cx="1508760" cy="502920"/>
          </a:xfrm>
          <a:prstGeom prst="rect">
            <a:avLst>
              <a:gd name="adj" fmla="val 9091"/>
            </a:avLst>
          </a:prstGeom>
          <a:solidFill>
            <a:srgbClr val="1A2236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WebGPU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023360" y="3108960"/>
            <a:ext cx="1508760" cy="502920"/>
          </a:xfrm>
          <a:prstGeom prst="rect">
            <a:avLst>
              <a:gd name="adj" fmla="val 9091"/>
            </a:avLst>
          </a:prstGeom>
          <a:solidFill>
            <a:srgbClr val="1A2236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9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SDK 5.0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0" y="3108960"/>
            <a:ext cx="1508760" cy="502920"/>
          </a:xfrm>
          <a:prstGeom prst="rect">
            <a:avLst>
              <a:gd name="adj" fmla="val 9091"/>
            </a:avLst>
          </a:prstGeom>
          <a:solidFill>
            <a:srgbClr val="1A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 (WMO)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0" y="3108960"/>
            <a:ext cx="1508760" cy="502920"/>
          </a:xfrm>
          <a:prstGeom prst="rect">
            <a:avLst>
              <a:gd name="adj" fmla="val 9091"/>
            </a:avLst>
          </a:prstGeom>
          <a:solidFill>
            <a:srgbClr val="1A223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310896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| Real NASA data | GPU-accelerated | Robinson projection | Zero dependencies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 in Action: Aerosols — GPU-Accelerated Atmospheric Visualization</dc:title>
  <dc:subject>PptxGenJS Presentation</dc:subject>
  <dc:creator>Jhonatan Garrido-Lecca</dc:creator>
  <cp:lastModifiedBy>Jhonatan Garrido-Lecca</cp:lastModifiedBy>
  <cp:revision>1</cp:revision>
  <dcterms:created xsi:type="dcterms:W3CDTF">2026-03-18T12:21:42Z</dcterms:created>
  <dcterms:modified xsi:type="dcterms:W3CDTF">2026-03-18T12:21:42Z</dcterms:modified>
</cp:coreProperties>
</file>