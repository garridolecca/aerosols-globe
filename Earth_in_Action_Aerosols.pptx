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31A2E"/>
          </a:solidFill>
          <a:ln/>
        </p:spPr>
      </p:sp>
      <p:sp>
        <p:nvSpPr>
          <p:cNvPr id="3" name="Shape 1"/>
          <p:cNvSpPr/>
          <p:nvPr/>
        </p:nvSpPr>
        <p:spPr>
          <a:xfrm>
            <a:off x="0" y="0"/>
            <a:ext cx="73152" cy="5143500"/>
          </a:xfrm>
          <a:prstGeom prst="rect">
            <a:avLst/>
          </a:prstGeom>
          <a:solidFill>
            <a:srgbClr val="00B4D8"/>
          </a:solidFill>
          <a:ln/>
        </p:spPr>
      </p:sp>
      <p:sp>
        <p:nvSpPr>
          <p:cNvPr id="4" name="Text 2"/>
          <p:cNvSpPr/>
          <p:nvPr/>
        </p:nvSpPr>
        <p:spPr>
          <a:xfrm>
            <a:off x="731520" y="1097280"/>
            <a:ext cx="7315200" cy="640080"/>
          </a:xfrm>
          <a:prstGeom prst="rect">
            <a:avLst/>
          </a:prstGeom>
          <a:noFill/>
          <a:ln/>
        </p:spPr>
        <p:txBody>
          <a:bodyPr wrap="square" lIns="0" tIns="0" rIns="0" bIns="0" rtlCol="0" anchor="ctr"/>
          <a:lstStyle/>
          <a:p>
            <a:pPr indent="0" marL="0">
              <a:buNone/>
            </a:pPr>
            <a:r>
              <a:rPr lang="en-US" sz="4200" b="1" dirty="0">
                <a:solidFill>
                  <a:srgbClr val="E2E8F0"/>
                </a:solidFill>
                <a:latin typeface="Arial Black" pitchFamily="34" charset="0"/>
                <a:ea typeface="Arial Black" pitchFamily="34" charset="-122"/>
                <a:cs typeface="Arial Black" pitchFamily="34" charset="-120"/>
              </a:rPr>
              <a:t>EARTH IN ACTION</a:t>
            </a:r>
            <a:endParaRPr lang="en-US" sz="4200" dirty="0"/>
          </a:p>
        </p:txBody>
      </p:sp>
      <p:sp>
        <p:nvSpPr>
          <p:cNvPr id="5" name="Text 3"/>
          <p:cNvSpPr/>
          <p:nvPr/>
        </p:nvSpPr>
        <p:spPr>
          <a:xfrm>
            <a:off x="731520" y="1737360"/>
            <a:ext cx="7315200" cy="548640"/>
          </a:xfrm>
          <a:prstGeom prst="rect">
            <a:avLst/>
          </a:prstGeom>
          <a:noFill/>
          <a:ln/>
        </p:spPr>
        <p:txBody>
          <a:bodyPr wrap="square" lIns="0" tIns="0" rIns="0" bIns="0" rtlCol="0" anchor="ctr"/>
          <a:lstStyle/>
          <a:p>
            <a:pPr indent="0" marL="0">
              <a:buNone/>
            </a:pPr>
            <a:r>
              <a:rPr lang="en-US" sz="3800" dirty="0">
                <a:solidFill>
                  <a:srgbClr val="00B4D8"/>
                </a:solidFill>
                <a:latin typeface="Arial" pitchFamily="34" charset="0"/>
                <a:ea typeface="Arial" pitchFamily="34" charset="-122"/>
                <a:cs typeface="Arial" pitchFamily="34" charset="-120"/>
              </a:rPr>
              <a:t>Aerosols</a:t>
            </a:r>
            <a:endParaRPr lang="en-US" sz="3800" dirty="0"/>
          </a:p>
        </p:txBody>
      </p:sp>
      <p:sp>
        <p:nvSpPr>
          <p:cNvPr id="6" name="Text 4"/>
          <p:cNvSpPr/>
          <p:nvPr/>
        </p:nvSpPr>
        <p:spPr>
          <a:xfrm>
            <a:off x="731520" y="2560320"/>
            <a:ext cx="6400800" cy="45720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GPU-Accelerated Atmospheric Aerosol Transport Visualization</a:t>
            </a:r>
            <a:endParaRPr lang="en-US" sz="1600" dirty="0"/>
          </a:p>
        </p:txBody>
      </p:sp>
      <p:sp>
        <p:nvSpPr>
          <p:cNvPr id="7" name="Text 5"/>
          <p:cNvSpPr/>
          <p:nvPr/>
        </p:nvSpPr>
        <p:spPr>
          <a:xfrm>
            <a:off x="731520" y="3291840"/>
            <a:ext cx="4572000" cy="365760"/>
          </a:xfrm>
          <a:prstGeom prst="rect">
            <a:avLst/>
          </a:prstGeom>
          <a:noFill/>
          <a:ln/>
        </p:spPr>
        <p:txBody>
          <a:bodyPr wrap="square" lIns="0" tIns="0" rIns="0" bIns="0" rtlCol="0" anchor="ctr"/>
          <a:lstStyle/>
          <a:p>
            <a:pPr indent="0" marL="0">
              <a:buNone/>
            </a:pPr>
            <a:r>
              <a:rPr lang="en-US" sz="1400" b="1" dirty="0">
                <a:solidFill>
                  <a:srgbClr val="E2E8F0"/>
                </a:solidFill>
                <a:latin typeface="Calibri" pitchFamily="34" charset="0"/>
                <a:ea typeface="Calibri" pitchFamily="34" charset="-122"/>
                <a:cs typeface="Calibri" pitchFamily="34" charset="-120"/>
              </a:rPr>
              <a:t>Jhonatan Garrido-Lecca</a:t>
            </a:r>
            <a:endParaRPr lang="en-US" sz="1400" dirty="0"/>
          </a:p>
        </p:txBody>
      </p:sp>
      <p:sp>
        <p:nvSpPr>
          <p:cNvPr id="8" name="Text 6"/>
          <p:cNvSpPr/>
          <p:nvPr/>
        </p:nvSpPr>
        <p:spPr>
          <a:xfrm>
            <a:off x="731520" y="3749040"/>
            <a:ext cx="64008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NASA GEOS-FP  |  NVIDIA WebGPU  |  ArcGIS Maps SDK 5.0</a:t>
            </a:r>
            <a:endParaRPr lang="en-US" sz="1100" dirty="0"/>
          </a:p>
        </p:txBody>
      </p:sp>
      <p:sp>
        <p:nvSpPr>
          <p:cNvPr id="9" name="Shape 7"/>
          <p:cNvSpPr/>
          <p:nvPr/>
        </p:nvSpPr>
        <p:spPr>
          <a:xfrm>
            <a:off x="5669280" y="4114800"/>
            <a:ext cx="1051560" cy="777240"/>
          </a:xfrm>
          <a:prstGeom prst="rect">
            <a:avLst>
              <a:gd name="adj" fmla="val 9412"/>
            </a:avLst>
          </a:prstGeom>
          <a:solidFill>
            <a:srgbClr val="1A2236"/>
          </a:solidFill>
          <a:ln/>
        </p:spPr>
      </p:sp>
      <p:sp>
        <p:nvSpPr>
          <p:cNvPr id="10" name="Text 8"/>
          <p:cNvSpPr/>
          <p:nvPr/>
        </p:nvSpPr>
        <p:spPr>
          <a:xfrm>
            <a:off x="5669280" y="4114800"/>
            <a:ext cx="1051560" cy="475488"/>
          </a:xfrm>
          <a:prstGeom prst="rect">
            <a:avLst/>
          </a:prstGeom>
          <a:noFill/>
          <a:ln/>
        </p:spPr>
        <p:txBody>
          <a:bodyPr wrap="square" lIns="0" tIns="0" rIns="0" bIns="0" rtlCol="0" anchor="b"/>
          <a:lstStyle/>
          <a:p>
            <a:pPr algn="ctr" indent="0" marL="0">
              <a:buNone/>
            </a:pPr>
            <a:r>
              <a:rPr lang="en-US" sz="1800" dirty="0">
                <a:solidFill>
                  <a:srgbClr val="76B900"/>
                </a:solidFill>
                <a:latin typeface="Arial Black" pitchFamily="34" charset="0"/>
                <a:ea typeface="Arial Black" pitchFamily="34" charset="-122"/>
                <a:cs typeface="Arial Black" pitchFamily="34" charset="-120"/>
              </a:rPr>
              <a:t>500K</a:t>
            </a:r>
            <a:endParaRPr lang="en-US" sz="1800" dirty="0"/>
          </a:p>
        </p:txBody>
      </p:sp>
      <p:sp>
        <p:nvSpPr>
          <p:cNvPr id="11" name="Text 9"/>
          <p:cNvSpPr/>
          <p:nvPr/>
        </p:nvSpPr>
        <p:spPr>
          <a:xfrm>
            <a:off x="5669280" y="4590288"/>
            <a:ext cx="1051560" cy="274320"/>
          </a:xfrm>
          <a:prstGeom prst="rect">
            <a:avLst/>
          </a:prstGeom>
          <a:noFill/>
          <a:ln/>
        </p:spPr>
        <p:txBody>
          <a:bodyPr wrap="square" lIns="0" tIns="0" rIns="0" bIns="0" rtlCol="0" anchor="t"/>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PARTICLES</a:t>
            </a:r>
            <a:endParaRPr lang="en-US" sz="700" dirty="0"/>
          </a:p>
        </p:txBody>
      </p:sp>
      <p:sp>
        <p:nvSpPr>
          <p:cNvPr id="12" name="Shape 10"/>
          <p:cNvSpPr/>
          <p:nvPr/>
        </p:nvSpPr>
        <p:spPr>
          <a:xfrm>
            <a:off x="6812280" y="4114800"/>
            <a:ext cx="1051560" cy="777240"/>
          </a:xfrm>
          <a:prstGeom prst="rect">
            <a:avLst>
              <a:gd name="adj" fmla="val 9412"/>
            </a:avLst>
          </a:prstGeom>
          <a:solidFill>
            <a:srgbClr val="1A2236"/>
          </a:solidFill>
          <a:ln/>
        </p:spPr>
      </p:sp>
      <p:sp>
        <p:nvSpPr>
          <p:cNvPr id="13" name="Text 11"/>
          <p:cNvSpPr/>
          <p:nvPr/>
        </p:nvSpPr>
        <p:spPr>
          <a:xfrm>
            <a:off x="6812280" y="4114800"/>
            <a:ext cx="1051560" cy="475488"/>
          </a:xfrm>
          <a:prstGeom prst="rect">
            <a:avLst/>
          </a:prstGeom>
          <a:noFill/>
          <a:ln/>
        </p:spPr>
        <p:txBody>
          <a:bodyPr wrap="square" lIns="0" tIns="0" rIns="0" bIns="0" rtlCol="0" anchor="b"/>
          <a:lstStyle/>
          <a:p>
            <a:pPr algn="ctr" indent="0" marL="0">
              <a:buNone/>
            </a:pPr>
            <a:r>
              <a:rPr lang="en-US" sz="1800" dirty="0">
                <a:solidFill>
                  <a:srgbClr val="00B4D8"/>
                </a:solidFill>
                <a:latin typeface="Arial Black" pitchFamily="34" charset="0"/>
                <a:ea typeface="Arial Black" pitchFamily="34" charset="-122"/>
                <a:cs typeface="Arial Black" pitchFamily="34" charset="-120"/>
              </a:rPr>
              <a:t>60 FPS</a:t>
            </a:r>
            <a:endParaRPr lang="en-US" sz="1800" dirty="0"/>
          </a:p>
        </p:txBody>
      </p:sp>
      <p:sp>
        <p:nvSpPr>
          <p:cNvPr id="14" name="Text 12"/>
          <p:cNvSpPr/>
          <p:nvPr/>
        </p:nvSpPr>
        <p:spPr>
          <a:xfrm>
            <a:off x="6812280" y="4590288"/>
            <a:ext cx="1051560" cy="274320"/>
          </a:xfrm>
          <a:prstGeom prst="rect">
            <a:avLst/>
          </a:prstGeom>
          <a:noFill/>
          <a:ln/>
        </p:spPr>
        <p:txBody>
          <a:bodyPr wrap="square" lIns="0" tIns="0" rIns="0" bIns="0" rtlCol="0" anchor="t"/>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GPU RENDER</a:t>
            </a:r>
            <a:endParaRPr lang="en-US" sz="700" dirty="0"/>
          </a:p>
        </p:txBody>
      </p:sp>
      <p:sp>
        <p:nvSpPr>
          <p:cNvPr id="15" name="Shape 13"/>
          <p:cNvSpPr/>
          <p:nvPr/>
        </p:nvSpPr>
        <p:spPr>
          <a:xfrm>
            <a:off x="7955280" y="4114800"/>
            <a:ext cx="1051560" cy="777240"/>
          </a:xfrm>
          <a:prstGeom prst="rect">
            <a:avLst>
              <a:gd name="adj" fmla="val 9412"/>
            </a:avLst>
          </a:prstGeom>
          <a:solidFill>
            <a:srgbClr val="1A2236"/>
          </a:solidFill>
          <a:ln/>
        </p:spPr>
      </p:sp>
      <p:sp>
        <p:nvSpPr>
          <p:cNvPr id="16" name="Text 14"/>
          <p:cNvSpPr/>
          <p:nvPr/>
        </p:nvSpPr>
        <p:spPr>
          <a:xfrm>
            <a:off x="7955280" y="4114800"/>
            <a:ext cx="1051560" cy="475488"/>
          </a:xfrm>
          <a:prstGeom prst="rect">
            <a:avLst/>
          </a:prstGeom>
          <a:noFill/>
          <a:ln/>
        </p:spPr>
        <p:txBody>
          <a:bodyPr wrap="square" lIns="0" tIns="0" rIns="0" bIns="0" rtlCol="0" anchor="b"/>
          <a:lstStyle/>
          <a:p>
            <a:pPr algn="ctr" indent="0" marL="0">
              <a:buNone/>
            </a:pPr>
            <a:r>
              <a:rPr lang="en-US" sz="1800" dirty="0">
                <a:solidFill>
                  <a:srgbClr val="8B5CF6"/>
                </a:solidFill>
                <a:latin typeface="Arial Black" pitchFamily="34" charset="0"/>
                <a:ea typeface="Arial Black" pitchFamily="34" charset="-122"/>
                <a:cs typeface="Arial Black" pitchFamily="34" charset="-120"/>
              </a:rPr>
              <a:t>WGSL</a:t>
            </a:r>
            <a:endParaRPr lang="en-US" sz="1800" dirty="0"/>
          </a:p>
        </p:txBody>
      </p:sp>
      <p:sp>
        <p:nvSpPr>
          <p:cNvPr id="17" name="Text 15"/>
          <p:cNvSpPr/>
          <p:nvPr/>
        </p:nvSpPr>
        <p:spPr>
          <a:xfrm>
            <a:off x="7955280" y="4590288"/>
            <a:ext cx="1051560" cy="274320"/>
          </a:xfrm>
          <a:prstGeom prst="rect">
            <a:avLst/>
          </a:prstGeom>
          <a:noFill/>
          <a:ln/>
        </p:spPr>
        <p:txBody>
          <a:bodyPr wrap="square" lIns="0" tIns="0" rIns="0" bIns="0" rtlCol="0" anchor="t"/>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SHADERS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8B5CF6"/>
          </a:solidFill>
          <a:ln/>
        </p:spPr>
      </p:sp>
      <p:sp>
        <p:nvSpPr>
          <p:cNvPr id="3" name="Text 1"/>
          <p:cNvSpPr/>
          <p:nvPr/>
        </p:nvSpPr>
        <p:spPr>
          <a:xfrm>
            <a:off x="731520" y="365760"/>
            <a:ext cx="7315200" cy="457200"/>
          </a:xfrm>
          <a:prstGeom prst="rect">
            <a:avLst/>
          </a:prstGeom>
          <a:noFill/>
          <a:ln/>
        </p:spPr>
        <p:txBody>
          <a:bodyPr wrap="square" lIns="0" tIns="0" rIns="0" bIns="0" rtlCol="0" anchor="ctr"/>
          <a:lstStyle/>
          <a:p>
            <a:pPr indent="0" marL="0">
              <a:buNone/>
            </a:pPr>
            <a:r>
              <a:rPr lang="en-US" sz="1100" spc="400" kern="0" dirty="0">
                <a:solidFill>
                  <a:srgbClr val="8B5CF6"/>
                </a:solidFill>
                <a:latin typeface="Calibri" pitchFamily="34" charset="0"/>
                <a:ea typeface="Calibri" pitchFamily="34" charset="-122"/>
                <a:cs typeface="Calibri" pitchFamily="34" charset="-120"/>
              </a:rPr>
              <a:t>THE CHALLENGE</a:t>
            </a:r>
            <a:endParaRPr lang="en-US" sz="1100" dirty="0"/>
          </a:p>
        </p:txBody>
      </p:sp>
      <p:sp>
        <p:nvSpPr>
          <p:cNvPr id="4" name="Text 2"/>
          <p:cNvSpPr/>
          <p:nvPr/>
        </p:nvSpPr>
        <p:spPr>
          <a:xfrm>
            <a:off x="731520" y="777240"/>
            <a:ext cx="7315200" cy="548640"/>
          </a:xfrm>
          <a:prstGeom prst="rect">
            <a:avLst/>
          </a:prstGeom>
          <a:noFill/>
          <a:ln/>
        </p:spPr>
        <p:txBody>
          <a:bodyPr wrap="square" lIns="0" tIns="0" rIns="0" bIns="0" rtlCol="0" anchor="ctr"/>
          <a:lstStyle/>
          <a:p>
            <a:pPr indent="0" marL="0">
              <a:buNone/>
            </a:pPr>
            <a:r>
              <a:rPr lang="en-US" sz="3200" dirty="0">
                <a:solidFill>
                  <a:srgbClr val="E2E8F0"/>
                </a:solidFill>
                <a:latin typeface="Arial Black" pitchFamily="34" charset="0"/>
                <a:ea typeface="Arial Black" pitchFamily="34" charset="-122"/>
                <a:cs typeface="Arial Black" pitchFamily="34" charset="-120"/>
              </a:rPr>
              <a:t>Visualizing Invisible Particles</a:t>
            </a:r>
            <a:endParaRPr lang="en-US" sz="3200" dirty="0"/>
          </a:p>
        </p:txBody>
      </p:sp>
      <p:sp>
        <p:nvSpPr>
          <p:cNvPr id="5" name="Text 3"/>
          <p:cNvSpPr/>
          <p:nvPr/>
        </p:nvSpPr>
        <p:spPr>
          <a:xfrm>
            <a:off x="731520" y="1554480"/>
            <a:ext cx="7498080" cy="822960"/>
          </a:xfrm>
          <a:prstGeom prst="rect">
            <a:avLst/>
          </a:prstGeom>
          <a:noFill/>
          <a:ln/>
        </p:spPr>
        <p:txBody>
          <a:bodyPr wrap="square" lIns="0" tIns="0" rIns="0" bIns="0" rtlCol="0" anchor="ctr"/>
          <a:lstStyle/>
          <a:p>
            <a:pPr indent="0" marL="0">
              <a:lnSpc>
                <a:spcPct val="140000"/>
              </a:lnSpc>
              <a:buNone/>
            </a:pPr>
            <a:r>
              <a:rPr lang="en-US" sz="1400" dirty="0">
                <a:solidFill>
                  <a:srgbClr val="94A3B8"/>
                </a:solidFill>
                <a:latin typeface="Calibri" pitchFamily="34" charset="0"/>
                <a:ea typeface="Calibri" pitchFamily="34" charset="-122"/>
                <a:cs typeface="Calibri" pitchFamily="34" charset="-120"/>
              </a:rPr>
              <a:t>Aerosols are tiny particles suspended in Earth's atmosphere — black carbon from fires, mineral dust from deserts, sea salt from ocean spray. They influence climate, air quality, and human health, but they're invisible to the eye and complex to visualize at global scale.</a:t>
            </a:r>
            <a:endParaRPr lang="en-US" sz="1400" dirty="0"/>
          </a:p>
        </p:txBody>
      </p:sp>
      <p:sp>
        <p:nvSpPr>
          <p:cNvPr id="6" name="Shape 4"/>
          <p:cNvSpPr/>
          <p:nvPr/>
        </p:nvSpPr>
        <p:spPr>
          <a:xfrm>
            <a:off x="731520" y="2606040"/>
            <a:ext cx="7680960" cy="475488"/>
          </a:xfrm>
          <a:prstGeom prst="rect">
            <a:avLst>
              <a:gd name="adj" fmla="val 11538"/>
            </a:avLst>
          </a:prstGeom>
          <a:solidFill>
            <a:srgbClr val="1A2236"/>
          </a:solidFill>
          <a:ln/>
        </p:spPr>
      </p:sp>
      <p:sp>
        <p:nvSpPr>
          <p:cNvPr id="7" name="Shape 5"/>
          <p:cNvSpPr/>
          <p:nvPr/>
        </p:nvSpPr>
        <p:spPr>
          <a:xfrm>
            <a:off x="914400" y="2697480"/>
            <a:ext cx="292608" cy="292608"/>
          </a:xfrm>
          <a:prstGeom prst="ellipse">
            <a:avLst/>
          </a:prstGeom>
          <a:solidFill>
            <a:srgbClr val="8B5CF6"/>
          </a:solidFill>
          <a:ln/>
        </p:spPr>
      </p:sp>
      <p:sp>
        <p:nvSpPr>
          <p:cNvPr id="8" name="Text 6"/>
          <p:cNvSpPr/>
          <p:nvPr/>
        </p:nvSpPr>
        <p:spPr>
          <a:xfrm>
            <a:off x="914400" y="2697480"/>
            <a:ext cx="292608" cy="292608"/>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1</a:t>
            </a:r>
            <a:endParaRPr lang="en-US" sz="1100" dirty="0"/>
          </a:p>
        </p:txBody>
      </p:sp>
      <p:sp>
        <p:nvSpPr>
          <p:cNvPr id="9" name="Text 7"/>
          <p:cNvSpPr/>
          <p:nvPr/>
        </p:nvSpPr>
        <p:spPr>
          <a:xfrm>
            <a:off x="1371600" y="2642616"/>
            <a:ext cx="3657600" cy="201168"/>
          </a:xfrm>
          <a:prstGeom prst="rect">
            <a:avLst/>
          </a:prstGeom>
          <a:noFill/>
          <a:ln/>
        </p:spPr>
        <p:txBody>
          <a:bodyPr wrap="square" lIns="0" tIns="0" rIns="0" bIns="0" rtlCol="0" anchor="ctr"/>
          <a:lstStyle/>
          <a:p>
            <a:pPr indent="0" marL="0">
              <a:buNone/>
            </a:pPr>
            <a:r>
              <a:rPr lang="en-US" sz="1300" b="1" dirty="0">
                <a:solidFill>
                  <a:srgbClr val="E2E8F0"/>
                </a:solidFill>
                <a:latin typeface="Calibri" pitchFamily="34" charset="0"/>
                <a:ea typeface="Calibri" pitchFamily="34" charset="-122"/>
                <a:cs typeface="Calibri" pitchFamily="34" charset="-120"/>
              </a:rPr>
              <a:t>Static satellite images lack movement</a:t>
            </a:r>
            <a:endParaRPr lang="en-US" sz="1300" dirty="0"/>
          </a:p>
        </p:txBody>
      </p:sp>
      <p:sp>
        <p:nvSpPr>
          <p:cNvPr id="10" name="Text 8"/>
          <p:cNvSpPr/>
          <p:nvPr/>
        </p:nvSpPr>
        <p:spPr>
          <a:xfrm>
            <a:off x="1371600" y="2843784"/>
            <a:ext cx="6400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Aerosols are transported by wind — snapshots miss the flow</a:t>
            </a:r>
            <a:endParaRPr lang="en-US" sz="1000" dirty="0"/>
          </a:p>
        </p:txBody>
      </p:sp>
      <p:sp>
        <p:nvSpPr>
          <p:cNvPr id="11" name="Shape 9"/>
          <p:cNvSpPr/>
          <p:nvPr/>
        </p:nvSpPr>
        <p:spPr>
          <a:xfrm>
            <a:off x="731520" y="3172968"/>
            <a:ext cx="7680960" cy="475488"/>
          </a:xfrm>
          <a:prstGeom prst="rect">
            <a:avLst>
              <a:gd name="adj" fmla="val 11538"/>
            </a:avLst>
          </a:prstGeom>
          <a:solidFill>
            <a:srgbClr val="1A2236"/>
          </a:solidFill>
          <a:ln/>
        </p:spPr>
      </p:sp>
      <p:sp>
        <p:nvSpPr>
          <p:cNvPr id="12" name="Shape 10"/>
          <p:cNvSpPr/>
          <p:nvPr/>
        </p:nvSpPr>
        <p:spPr>
          <a:xfrm>
            <a:off x="914400" y="3264408"/>
            <a:ext cx="292608" cy="292608"/>
          </a:xfrm>
          <a:prstGeom prst="ellipse">
            <a:avLst/>
          </a:prstGeom>
          <a:solidFill>
            <a:srgbClr val="8B5CF6"/>
          </a:solidFill>
          <a:ln/>
        </p:spPr>
      </p:sp>
      <p:sp>
        <p:nvSpPr>
          <p:cNvPr id="13" name="Text 11"/>
          <p:cNvSpPr/>
          <p:nvPr/>
        </p:nvSpPr>
        <p:spPr>
          <a:xfrm>
            <a:off x="914400" y="3264408"/>
            <a:ext cx="292608" cy="292608"/>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2</a:t>
            </a:r>
            <a:endParaRPr lang="en-US" sz="1100" dirty="0"/>
          </a:p>
        </p:txBody>
      </p:sp>
      <p:sp>
        <p:nvSpPr>
          <p:cNvPr id="14" name="Text 12"/>
          <p:cNvSpPr/>
          <p:nvPr/>
        </p:nvSpPr>
        <p:spPr>
          <a:xfrm>
            <a:off x="1371600" y="3209544"/>
            <a:ext cx="3657600" cy="201168"/>
          </a:xfrm>
          <a:prstGeom prst="rect">
            <a:avLst/>
          </a:prstGeom>
          <a:noFill/>
          <a:ln/>
        </p:spPr>
        <p:txBody>
          <a:bodyPr wrap="square" lIns="0" tIns="0" rIns="0" bIns="0" rtlCol="0" anchor="ctr"/>
          <a:lstStyle/>
          <a:p>
            <a:pPr indent="0" marL="0">
              <a:buNone/>
            </a:pPr>
            <a:r>
              <a:rPr lang="en-US" sz="1300" b="1" dirty="0">
                <a:solidFill>
                  <a:srgbClr val="E2E8F0"/>
                </a:solidFill>
                <a:latin typeface="Calibri" pitchFamily="34" charset="0"/>
                <a:ea typeface="Calibri" pitchFamily="34" charset="-122"/>
                <a:cs typeface="Calibri" pitchFamily="34" charset="-120"/>
              </a:rPr>
              <a:t>Traditional rendering is too slow</a:t>
            </a:r>
            <a:endParaRPr lang="en-US" sz="1300" dirty="0"/>
          </a:p>
        </p:txBody>
      </p:sp>
      <p:sp>
        <p:nvSpPr>
          <p:cNvPr id="15" name="Text 13"/>
          <p:cNvSpPr/>
          <p:nvPr/>
        </p:nvSpPr>
        <p:spPr>
          <a:xfrm>
            <a:off x="1371600" y="3410712"/>
            <a:ext cx="6400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Canvas 2D can handle ~8,000 particles before frame drops</a:t>
            </a:r>
            <a:endParaRPr lang="en-US" sz="1000" dirty="0"/>
          </a:p>
        </p:txBody>
      </p:sp>
      <p:sp>
        <p:nvSpPr>
          <p:cNvPr id="16" name="Shape 14"/>
          <p:cNvSpPr/>
          <p:nvPr/>
        </p:nvSpPr>
        <p:spPr>
          <a:xfrm>
            <a:off x="731520" y="3739896"/>
            <a:ext cx="7680960" cy="475488"/>
          </a:xfrm>
          <a:prstGeom prst="rect">
            <a:avLst>
              <a:gd name="adj" fmla="val 11538"/>
            </a:avLst>
          </a:prstGeom>
          <a:solidFill>
            <a:srgbClr val="1A2236"/>
          </a:solidFill>
          <a:ln/>
        </p:spPr>
      </p:sp>
      <p:sp>
        <p:nvSpPr>
          <p:cNvPr id="17" name="Shape 15"/>
          <p:cNvSpPr/>
          <p:nvPr/>
        </p:nvSpPr>
        <p:spPr>
          <a:xfrm>
            <a:off x="914400" y="3831336"/>
            <a:ext cx="292608" cy="292608"/>
          </a:xfrm>
          <a:prstGeom prst="ellipse">
            <a:avLst/>
          </a:prstGeom>
          <a:solidFill>
            <a:srgbClr val="8B5CF6"/>
          </a:solidFill>
          <a:ln/>
        </p:spPr>
      </p:sp>
      <p:sp>
        <p:nvSpPr>
          <p:cNvPr id="18" name="Text 16"/>
          <p:cNvSpPr/>
          <p:nvPr/>
        </p:nvSpPr>
        <p:spPr>
          <a:xfrm>
            <a:off x="914400" y="3831336"/>
            <a:ext cx="292608" cy="292608"/>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3</a:t>
            </a:r>
            <a:endParaRPr lang="en-US" sz="1100" dirty="0"/>
          </a:p>
        </p:txBody>
      </p:sp>
      <p:sp>
        <p:nvSpPr>
          <p:cNvPr id="19" name="Text 17"/>
          <p:cNvSpPr/>
          <p:nvPr/>
        </p:nvSpPr>
        <p:spPr>
          <a:xfrm>
            <a:off x="1371600" y="3776472"/>
            <a:ext cx="3657600" cy="201168"/>
          </a:xfrm>
          <a:prstGeom prst="rect">
            <a:avLst/>
          </a:prstGeom>
          <a:noFill/>
          <a:ln/>
        </p:spPr>
        <p:txBody>
          <a:bodyPr wrap="square" lIns="0" tIns="0" rIns="0" bIns="0" rtlCol="0" anchor="ctr"/>
          <a:lstStyle/>
          <a:p>
            <a:pPr indent="0" marL="0">
              <a:buNone/>
            </a:pPr>
            <a:r>
              <a:rPr lang="en-US" sz="1300" b="1" dirty="0">
                <a:solidFill>
                  <a:srgbClr val="E2E8F0"/>
                </a:solidFill>
                <a:latin typeface="Calibri" pitchFamily="34" charset="0"/>
                <a:ea typeface="Calibri" pitchFamily="34" charset="-122"/>
                <a:cs typeface="Calibri" pitchFamily="34" charset="-120"/>
              </a:rPr>
              <a:t>Species data is mixed together</a:t>
            </a:r>
            <a:endParaRPr lang="en-US" sz="1300" dirty="0"/>
          </a:p>
        </p:txBody>
      </p:sp>
      <p:sp>
        <p:nvSpPr>
          <p:cNvPr id="20" name="Text 18"/>
          <p:cNvSpPr/>
          <p:nvPr/>
        </p:nvSpPr>
        <p:spPr>
          <a:xfrm>
            <a:off x="1371600" y="3977640"/>
            <a:ext cx="6400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Each aerosol type has distinct sources and transport patterns</a:t>
            </a:r>
            <a:endParaRPr lang="en-US" sz="1000" dirty="0"/>
          </a:p>
        </p:txBody>
      </p:sp>
      <p:sp>
        <p:nvSpPr>
          <p:cNvPr id="21" name="Shape 19"/>
          <p:cNvSpPr/>
          <p:nvPr/>
        </p:nvSpPr>
        <p:spPr>
          <a:xfrm>
            <a:off x="731520" y="4306824"/>
            <a:ext cx="7680960" cy="475488"/>
          </a:xfrm>
          <a:prstGeom prst="rect">
            <a:avLst>
              <a:gd name="adj" fmla="val 11538"/>
            </a:avLst>
          </a:prstGeom>
          <a:solidFill>
            <a:srgbClr val="1A2236"/>
          </a:solidFill>
          <a:ln/>
        </p:spPr>
      </p:sp>
      <p:sp>
        <p:nvSpPr>
          <p:cNvPr id="22" name="Shape 20"/>
          <p:cNvSpPr/>
          <p:nvPr/>
        </p:nvSpPr>
        <p:spPr>
          <a:xfrm>
            <a:off x="914400" y="4398264"/>
            <a:ext cx="292608" cy="292608"/>
          </a:xfrm>
          <a:prstGeom prst="ellipse">
            <a:avLst/>
          </a:prstGeom>
          <a:solidFill>
            <a:srgbClr val="8B5CF6"/>
          </a:solidFill>
          <a:ln/>
        </p:spPr>
      </p:sp>
      <p:sp>
        <p:nvSpPr>
          <p:cNvPr id="23" name="Text 21"/>
          <p:cNvSpPr/>
          <p:nvPr/>
        </p:nvSpPr>
        <p:spPr>
          <a:xfrm>
            <a:off x="914400" y="4398264"/>
            <a:ext cx="292608" cy="292608"/>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4</a:t>
            </a:r>
            <a:endParaRPr lang="en-US" sz="1100" dirty="0"/>
          </a:p>
        </p:txBody>
      </p:sp>
      <p:sp>
        <p:nvSpPr>
          <p:cNvPr id="24" name="Text 22"/>
          <p:cNvSpPr/>
          <p:nvPr/>
        </p:nvSpPr>
        <p:spPr>
          <a:xfrm>
            <a:off x="1371600" y="4343400"/>
            <a:ext cx="3657600" cy="201168"/>
          </a:xfrm>
          <a:prstGeom prst="rect">
            <a:avLst/>
          </a:prstGeom>
          <a:noFill/>
          <a:ln/>
        </p:spPr>
        <p:txBody>
          <a:bodyPr wrap="square" lIns="0" tIns="0" rIns="0" bIns="0" rtlCol="0" anchor="ctr"/>
          <a:lstStyle/>
          <a:p>
            <a:pPr indent="0" marL="0">
              <a:buNone/>
            </a:pPr>
            <a:r>
              <a:rPr lang="en-US" sz="1300" b="1" dirty="0">
                <a:solidFill>
                  <a:srgbClr val="E2E8F0"/>
                </a:solidFill>
                <a:latin typeface="Calibri" pitchFamily="34" charset="0"/>
                <a:ea typeface="Calibri" pitchFamily="34" charset="-122"/>
                <a:cs typeface="Calibri" pitchFamily="34" charset="-120"/>
              </a:rPr>
              <a:t>No accessible real-time data pipeline</a:t>
            </a:r>
            <a:endParaRPr lang="en-US" sz="1300" dirty="0"/>
          </a:p>
        </p:txBody>
      </p:sp>
      <p:sp>
        <p:nvSpPr>
          <p:cNvPr id="25" name="Text 23"/>
          <p:cNvSpPr/>
          <p:nvPr/>
        </p:nvSpPr>
        <p:spPr>
          <a:xfrm>
            <a:off x="1371600" y="4544568"/>
            <a:ext cx="6400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NASA data requires authentication and complex processing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p:spPr>
      </p:sp>
      <p:sp>
        <p:nvSpPr>
          <p:cNvPr id="3" name="Text 1"/>
          <p:cNvSpPr/>
          <p:nvPr/>
        </p:nvSpPr>
        <p:spPr>
          <a:xfrm>
            <a:off x="731520" y="365760"/>
            <a:ext cx="7315200" cy="457200"/>
          </a:xfrm>
          <a:prstGeom prst="rect">
            <a:avLst/>
          </a:prstGeom>
          <a:noFill/>
          <a:ln/>
        </p:spPr>
        <p:txBody>
          <a:bodyPr wrap="square" lIns="0" tIns="0" rIns="0" bIns="0" rtlCol="0" anchor="ctr"/>
          <a:lstStyle/>
          <a:p>
            <a:pPr indent="0" marL="0">
              <a:buNone/>
            </a:pPr>
            <a:r>
              <a:rPr lang="en-US" sz="1100" spc="400" kern="0" dirty="0">
                <a:solidFill>
                  <a:srgbClr val="00B4D8"/>
                </a:solidFill>
                <a:latin typeface="Calibri" pitchFamily="34" charset="0"/>
                <a:ea typeface="Calibri" pitchFamily="34" charset="-122"/>
                <a:cs typeface="Calibri" pitchFamily="34" charset="-120"/>
              </a:rPr>
              <a:t>THE SOLUTION</a:t>
            </a:r>
            <a:endParaRPr lang="en-US" sz="1100" dirty="0"/>
          </a:p>
        </p:txBody>
      </p:sp>
      <p:sp>
        <p:nvSpPr>
          <p:cNvPr id="4" name="Text 2"/>
          <p:cNvSpPr/>
          <p:nvPr/>
        </p:nvSpPr>
        <p:spPr>
          <a:xfrm>
            <a:off x="731520" y="777240"/>
            <a:ext cx="8229600" cy="548640"/>
          </a:xfrm>
          <a:prstGeom prst="rect">
            <a:avLst/>
          </a:prstGeom>
          <a:noFill/>
          <a:ln/>
        </p:spPr>
        <p:txBody>
          <a:bodyPr wrap="square" lIns="0" tIns="0" rIns="0" bIns="0" rtlCol="0" anchor="ctr"/>
          <a:lstStyle/>
          <a:p>
            <a:pPr indent="0" marL="0">
              <a:buNone/>
            </a:pPr>
            <a:r>
              <a:rPr lang="en-US" sz="2800" dirty="0">
                <a:solidFill>
                  <a:srgbClr val="E2E8F0"/>
                </a:solidFill>
                <a:latin typeface="Arial Black" pitchFamily="34" charset="0"/>
                <a:ea typeface="Arial Black" pitchFamily="34" charset="-122"/>
                <a:cs typeface="Arial Black" pitchFamily="34" charset="-120"/>
              </a:rPr>
              <a:t>End-to-End Aerosol Transport Visualization</a:t>
            </a:r>
            <a:endParaRPr lang="en-US" sz="2800" dirty="0"/>
          </a:p>
        </p:txBody>
      </p:sp>
      <p:sp>
        <p:nvSpPr>
          <p:cNvPr id="5" name="Shape 3"/>
          <p:cNvSpPr/>
          <p:nvPr/>
        </p:nvSpPr>
        <p:spPr>
          <a:xfrm>
            <a:off x="457200" y="1645920"/>
            <a:ext cx="1600200" cy="2926080"/>
          </a:xfrm>
          <a:prstGeom prst="rect">
            <a:avLst>
              <a:gd name="adj" fmla="val 4571"/>
            </a:avLst>
          </a:prstGeom>
          <a:solidFill>
            <a:srgbClr val="1A2236"/>
          </a:solidFill>
          <a:ln/>
        </p:spPr>
      </p:sp>
      <p:sp>
        <p:nvSpPr>
          <p:cNvPr id="6" name="Shape 4"/>
          <p:cNvSpPr/>
          <p:nvPr/>
        </p:nvSpPr>
        <p:spPr>
          <a:xfrm>
            <a:off x="1024128" y="1828800"/>
            <a:ext cx="457200" cy="457200"/>
          </a:xfrm>
          <a:prstGeom prst="ellipse">
            <a:avLst/>
          </a:prstGeom>
          <a:solidFill>
            <a:srgbClr val="00B4D8"/>
          </a:solidFill>
          <a:ln/>
        </p:spPr>
      </p:sp>
      <p:sp>
        <p:nvSpPr>
          <p:cNvPr id="7" name="Text 5"/>
          <p:cNvSpPr/>
          <p:nvPr/>
        </p:nvSpPr>
        <p:spPr>
          <a:xfrm>
            <a:off x="1024128" y="1828800"/>
            <a:ext cx="457200" cy="457200"/>
          </a:xfrm>
          <a:prstGeom prst="rect">
            <a:avLst/>
          </a:prstGeom>
          <a:noFill/>
          <a:ln/>
        </p:spPr>
        <p:txBody>
          <a:bodyPr wrap="square" lIns="0" tIns="0" rIns="0" bIns="0" rtlCol="0" anchor="ctr"/>
          <a:lstStyle/>
          <a:p>
            <a:pPr algn="ctr" indent="0" marL="0">
              <a:buNone/>
            </a:pPr>
            <a:r>
              <a:rPr lang="en-US" sz="1800" dirty="0">
                <a:solidFill>
                  <a:srgbClr val="00B4D8"/>
                </a:solidFill>
                <a:latin typeface="Arial Black" pitchFamily="34" charset="0"/>
                <a:ea typeface="Arial Black" pitchFamily="34" charset="-122"/>
                <a:cs typeface="Arial Black" pitchFamily="34" charset="-120"/>
              </a:rPr>
              <a:t>1</a:t>
            </a:r>
            <a:endParaRPr lang="en-US" sz="1800" dirty="0"/>
          </a:p>
        </p:txBody>
      </p:sp>
      <p:sp>
        <p:nvSpPr>
          <p:cNvPr id="8" name="Text 6"/>
          <p:cNvSpPr/>
          <p:nvPr/>
        </p:nvSpPr>
        <p:spPr>
          <a:xfrm>
            <a:off x="548640" y="2423160"/>
            <a:ext cx="1417320" cy="320040"/>
          </a:xfrm>
          <a:prstGeom prst="rect">
            <a:avLst/>
          </a:prstGeom>
          <a:noFill/>
          <a:ln/>
        </p:spPr>
        <p:txBody>
          <a:bodyPr wrap="square" lIns="0" tIns="0" rIns="0" bIns="0" rtlCol="0" anchor="ctr"/>
          <a:lstStyle/>
          <a:p>
            <a:pPr algn="ctr" indent="0" marL="0">
              <a:buNone/>
            </a:pPr>
            <a:r>
              <a:rPr lang="en-US" sz="1200" b="1" dirty="0">
                <a:solidFill>
                  <a:srgbClr val="E2E8F0"/>
                </a:solidFill>
                <a:latin typeface="Calibri" pitchFamily="34" charset="0"/>
                <a:ea typeface="Calibri" pitchFamily="34" charset="-122"/>
                <a:cs typeface="Calibri" pitchFamily="34" charset="-120"/>
              </a:rPr>
              <a:t>NASA GEOS-FP</a:t>
            </a:r>
            <a:endParaRPr lang="en-US" sz="1200" dirty="0"/>
          </a:p>
        </p:txBody>
      </p:sp>
      <p:sp>
        <p:nvSpPr>
          <p:cNvPr id="9" name="Text 7"/>
          <p:cNvSpPr/>
          <p:nvPr/>
        </p:nvSpPr>
        <p:spPr>
          <a:xfrm>
            <a:off x="548640" y="2788920"/>
            <a:ext cx="1417320" cy="1371600"/>
          </a:xfrm>
          <a:prstGeom prst="rect">
            <a:avLst/>
          </a:prstGeom>
          <a:noFill/>
          <a:ln/>
        </p:spPr>
        <p:txBody>
          <a:bodyPr wrap="square" lIns="0" tIns="0" rIns="0" bIns="0" rtlCol="0" anchor="ctr"/>
          <a:lstStyle/>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Real-time wind + aerosol data</a:t>
            </a:r>
            <a:endParaRPr lang="en-US" sz="900" dirty="0"/>
          </a:p>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0.25° global via OPeNDAP</a:t>
            </a:r>
            <a:endParaRPr lang="en-US" sz="900" dirty="0"/>
          </a:p>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No authentication needed</a:t>
            </a:r>
            <a:endParaRPr lang="en-US" sz="900" dirty="0"/>
          </a:p>
        </p:txBody>
      </p:sp>
      <p:sp>
        <p:nvSpPr>
          <p:cNvPr id="10" name="Text 8"/>
          <p:cNvSpPr/>
          <p:nvPr/>
        </p:nvSpPr>
        <p:spPr>
          <a:xfrm>
            <a:off x="2057400" y="2651760"/>
            <a:ext cx="137160" cy="365760"/>
          </a:xfrm>
          <a:prstGeom prst="rect">
            <a:avLst/>
          </a:prstGeom>
          <a:noFill/>
          <a:ln/>
        </p:spPr>
        <p:txBody>
          <a:bodyPr wrap="square" lIns="0" tIns="0" rIns="0" bIns="0"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&gt;</a:t>
            </a:r>
            <a:endParaRPr lang="en-US" sz="1600" dirty="0"/>
          </a:p>
        </p:txBody>
      </p:sp>
      <p:sp>
        <p:nvSpPr>
          <p:cNvPr id="11" name="Shape 9"/>
          <p:cNvSpPr/>
          <p:nvPr/>
        </p:nvSpPr>
        <p:spPr>
          <a:xfrm>
            <a:off x="2194560" y="1645920"/>
            <a:ext cx="1600200" cy="2926080"/>
          </a:xfrm>
          <a:prstGeom prst="rect">
            <a:avLst>
              <a:gd name="adj" fmla="val 4571"/>
            </a:avLst>
          </a:prstGeom>
          <a:solidFill>
            <a:srgbClr val="1A2236"/>
          </a:solidFill>
          <a:ln/>
        </p:spPr>
      </p:sp>
      <p:sp>
        <p:nvSpPr>
          <p:cNvPr id="12" name="Shape 10"/>
          <p:cNvSpPr/>
          <p:nvPr/>
        </p:nvSpPr>
        <p:spPr>
          <a:xfrm>
            <a:off x="2761488" y="1828800"/>
            <a:ext cx="457200" cy="457200"/>
          </a:xfrm>
          <a:prstGeom prst="ellipse">
            <a:avLst/>
          </a:prstGeom>
          <a:solidFill>
            <a:srgbClr val="8B5CF6"/>
          </a:solidFill>
          <a:ln/>
        </p:spPr>
      </p:sp>
      <p:sp>
        <p:nvSpPr>
          <p:cNvPr id="13" name="Text 11"/>
          <p:cNvSpPr/>
          <p:nvPr/>
        </p:nvSpPr>
        <p:spPr>
          <a:xfrm>
            <a:off x="2761488" y="1828800"/>
            <a:ext cx="457200" cy="457200"/>
          </a:xfrm>
          <a:prstGeom prst="rect">
            <a:avLst/>
          </a:prstGeom>
          <a:noFill/>
          <a:ln/>
        </p:spPr>
        <p:txBody>
          <a:bodyPr wrap="square" lIns="0" tIns="0" rIns="0" bIns="0" rtlCol="0" anchor="ctr"/>
          <a:lstStyle/>
          <a:p>
            <a:pPr algn="ctr" indent="0" marL="0">
              <a:buNone/>
            </a:pPr>
            <a:r>
              <a:rPr lang="en-US" sz="1800" dirty="0">
                <a:solidFill>
                  <a:srgbClr val="8B5CF6"/>
                </a:solidFill>
                <a:latin typeface="Arial Black" pitchFamily="34" charset="0"/>
                <a:ea typeface="Arial Black" pitchFamily="34" charset="-122"/>
                <a:cs typeface="Arial Black" pitchFamily="34" charset="-120"/>
              </a:rPr>
              <a:t>2</a:t>
            </a:r>
            <a:endParaRPr lang="en-US" sz="1800" dirty="0"/>
          </a:p>
        </p:txBody>
      </p:sp>
      <p:sp>
        <p:nvSpPr>
          <p:cNvPr id="14" name="Text 12"/>
          <p:cNvSpPr/>
          <p:nvPr/>
        </p:nvSpPr>
        <p:spPr>
          <a:xfrm>
            <a:off x="2286000" y="2423160"/>
            <a:ext cx="1417320" cy="320040"/>
          </a:xfrm>
          <a:prstGeom prst="rect">
            <a:avLst/>
          </a:prstGeom>
          <a:noFill/>
          <a:ln/>
        </p:spPr>
        <p:txBody>
          <a:bodyPr wrap="square" lIns="0" tIns="0" rIns="0" bIns="0" rtlCol="0" anchor="ctr"/>
          <a:lstStyle/>
          <a:p>
            <a:pPr algn="ctr" indent="0" marL="0">
              <a:buNone/>
            </a:pPr>
            <a:r>
              <a:rPr lang="en-US" sz="1200" b="1" dirty="0">
                <a:solidFill>
                  <a:srgbClr val="E2E8F0"/>
                </a:solidFill>
                <a:latin typeface="Calibri" pitchFamily="34" charset="0"/>
                <a:ea typeface="Calibri" pitchFamily="34" charset="-122"/>
                <a:cs typeface="Calibri" pitchFamily="34" charset="-120"/>
              </a:rPr>
              <a:t>Python Pipeline</a:t>
            </a:r>
            <a:endParaRPr lang="en-US" sz="1200" dirty="0"/>
          </a:p>
        </p:txBody>
      </p:sp>
      <p:sp>
        <p:nvSpPr>
          <p:cNvPr id="15" name="Text 13"/>
          <p:cNvSpPr/>
          <p:nvPr/>
        </p:nvSpPr>
        <p:spPr>
          <a:xfrm>
            <a:off x="2286000" y="2788920"/>
            <a:ext cx="1417320" cy="1371600"/>
          </a:xfrm>
          <a:prstGeom prst="rect">
            <a:avLst/>
          </a:prstGeom>
          <a:noFill/>
          <a:ln/>
        </p:spPr>
        <p:txBody>
          <a:bodyPr wrap="square" lIns="0" tIns="0" rIns="0" bIns="0" rtlCol="0" anchor="ctr"/>
          <a:lstStyle/>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Weight wind by concentration</a:t>
            </a:r>
            <a:endParaRPr lang="en-US" sz="900" dirty="0"/>
          </a:p>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flux = wind x norm(aerosol)</a:t>
            </a:r>
            <a:endParaRPr lang="en-US" sz="900" dirty="0"/>
          </a:p>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Per-species processing</a:t>
            </a:r>
            <a:endParaRPr lang="en-US" sz="900" dirty="0"/>
          </a:p>
        </p:txBody>
      </p:sp>
      <p:sp>
        <p:nvSpPr>
          <p:cNvPr id="16" name="Text 14"/>
          <p:cNvSpPr/>
          <p:nvPr/>
        </p:nvSpPr>
        <p:spPr>
          <a:xfrm>
            <a:off x="3794760" y="2651760"/>
            <a:ext cx="137160" cy="365760"/>
          </a:xfrm>
          <a:prstGeom prst="rect">
            <a:avLst/>
          </a:prstGeom>
          <a:noFill/>
          <a:ln/>
        </p:spPr>
        <p:txBody>
          <a:bodyPr wrap="square" lIns="0" tIns="0" rIns="0" bIns="0"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&gt;</a:t>
            </a:r>
            <a:endParaRPr lang="en-US" sz="1600" dirty="0"/>
          </a:p>
        </p:txBody>
      </p:sp>
      <p:sp>
        <p:nvSpPr>
          <p:cNvPr id="17" name="Shape 15"/>
          <p:cNvSpPr/>
          <p:nvPr/>
        </p:nvSpPr>
        <p:spPr>
          <a:xfrm>
            <a:off x="3931920" y="1645920"/>
            <a:ext cx="1600200" cy="2926080"/>
          </a:xfrm>
          <a:prstGeom prst="rect">
            <a:avLst>
              <a:gd name="adj" fmla="val 4571"/>
            </a:avLst>
          </a:prstGeom>
          <a:solidFill>
            <a:srgbClr val="1A2236"/>
          </a:solidFill>
          <a:ln/>
        </p:spPr>
      </p:sp>
      <p:sp>
        <p:nvSpPr>
          <p:cNvPr id="18" name="Shape 16"/>
          <p:cNvSpPr/>
          <p:nvPr/>
        </p:nvSpPr>
        <p:spPr>
          <a:xfrm>
            <a:off x="4498848" y="1828800"/>
            <a:ext cx="457200" cy="457200"/>
          </a:xfrm>
          <a:prstGeom prst="ellipse">
            <a:avLst/>
          </a:prstGeom>
          <a:solidFill>
            <a:srgbClr val="F59E0B"/>
          </a:solidFill>
          <a:ln/>
        </p:spPr>
      </p:sp>
      <p:sp>
        <p:nvSpPr>
          <p:cNvPr id="19" name="Text 17"/>
          <p:cNvSpPr/>
          <p:nvPr/>
        </p:nvSpPr>
        <p:spPr>
          <a:xfrm>
            <a:off x="4498848" y="1828800"/>
            <a:ext cx="457200" cy="457200"/>
          </a:xfrm>
          <a:prstGeom prst="rect">
            <a:avLst/>
          </a:prstGeom>
          <a:noFill/>
          <a:ln/>
        </p:spPr>
        <p:txBody>
          <a:bodyPr wrap="square" lIns="0" tIns="0" rIns="0" bIns="0" rtlCol="0" anchor="ctr"/>
          <a:lstStyle/>
          <a:p>
            <a:pPr algn="ctr" indent="0" marL="0">
              <a:buNone/>
            </a:pPr>
            <a:r>
              <a:rPr lang="en-US" sz="1800" dirty="0">
                <a:solidFill>
                  <a:srgbClr val="F59E0B"/>
                </a:solidFill>
                <a:latin typeface="Arial Black" pitchFamily="34" charset="0"/>
                <a:ea typeface="Arial Black" pitchFamily="34" charset="-122"/>
                <a:cs typeface="Arial Black" pitchFamily="34" charset="-120"/>
              </a:rPr>
              <a:t>3</a:t>
            </a:r>
            <a:endParaRPr lang="en-US" sz="1800" dirty="0"/>
          </a:p>
        </p:txBody>
      </p:sp>
      <p:sp>
        <p:nvSpPr>
          <p:cNvPr id="20" name="Text 18"/>
          <p:cNvSpPr/>
          <p:nvPr/>
        </p:nvSpPr>
        <p:spPr>
          <a:xfrm>
            <a:off x="4023360" y="2423160"/>
            <a:ext cx="1417320" cy="320040"/>
          </a:xfrm>
          <a:prstGeom prst="rect">
            <a:avLst/>
          </a:prstGeom>
          <a:noFill/>
          <a:ln/>
        </p:spPr>
        <p:txBody>
          <a:bodyPr wrap="square" lIns="0" tIns="0" rIns="0" bIns="0" rtlCol="0" anchor="ctr"/>
          <a:lstStyle/>
          <a:p>
            <a:pPr algn="ctr" indent="0" marL="0">
              <a:buNone/>
            </a:pPr>
            <a:r>
              <a:rPr lang="en-US" sz="1200" b="1" dirty="0">
                <a:solidFill>
                  <a:srgbClr val="E2E8F0"/>
                </a:solidFill>
                <a:latin typeface="Calibri" pitchFamily="34" charset="0"/>
                <a:ea typeface="Calibri" pitchFamily="34" charset="-122"/>
                <a:cs typeface="Calibri" pitchFamily="34" charset="-120"/>
              </a:rPr>
              <a:t>PNG Encoding</a:t>
            </a:r>
            <a:endParaRPr lang="en-US" sz="1200" dirty="0"/>
          </a:p>
        </p:txBody>
      </p:sp>
      <p:sp>
        <p:nvSpPr>
          <p:cNvPr id="21" name="Text 19"/>
          <p:cNvSpPr/>
          <p:nvPr/>
        </p:nvSpPr>
        <p:spPr>
          <a:xfrm>
            <a:off x="4023360" y="2788920"/>
            <a:ext cx="1417320" cy="1371600"/>
          </a:xfrm>
          <a:prstGeom prst="rect">
            <a:avLst/>
          </a:prstGeom>
          <a:noFill/>
          <a:ln/>
        </p:spPr>
        <p:txBody>
          <a:bodyPr wrap="square" lIns="0" tIns="0" rIns="0" bIns="0" rtlCol="0" anchor="ctr"/>
          <a:lstStyle/>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U→Red, V→Green, Mag→Blue</a:t>
            </a:r>
            <a:endParaRPr lang="en-US" sz="900" dirty="0"/>
          </a:p>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~100 KB per species</a:t>
            </a:r>
            <a:endParaRPr lang="en-US" sz="900" dirty="0"/>
          </a:p>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360x181 grid (1° resolution)</a:t>
            </a:r>
            <a:endParaRPr lang="en-US" sz="900" dirty="0"/>
          </a:p>
        </p:txBody>
      </p:sp>
      <p:sp>
        <p:nvSpPr>
          <p:cNvPr id="22" name="Text 20"/>
          <p:cNvSpPr/>
          <p:nvPr/>
        </p:nvSpPr>
        <p:spPr>
          <a:xfrm>
            <a:off x="5532120" y="2651760"/>
            <a:ext cx="137160" cy="365760"/>
          </a:xfrm>
          <a:prstGeom prst="rect">
            <a:avLst/>
          </a:prstGeom>
          <a:noFill/>
          <a:ln/>
        </p:spPr>
        <p:txBody>
          <a:bodyPr wrap="square" lIns="0" tIns="0" rIns="0" bIns="0"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&gt;</a:t>
            </a:r>
            <a:endParaRPr lang="en-US" sz="1600" dirty="0"/>
          </a:p>
        </p:txBody>
      </p:sp>
      <p:sp>
        <p:nvSpPr>
          <p:cNvPr id="23" name="Shape 21"/>
          <p:cNvSpPr/>
          <p:nvPr/>
        </p:nvSpPr>
        <p:spPr>
          <a:xfrm>
            <a:off x="5669280" y="1645920"/>
            <a:ext cx="1600200" cy="2926080"/>
          </a:xfrm>
          <a:prstGeom prst="rect">
            <a:avLst>
              <a:gd name="adj" fmla="val 4571"/>
            </a:avLst>
          </a:prstGeom>
          <a:solidFill>
            <a:srgbClr val="1A2236"/>
          </a:solidFill>
          <a:ln/>
        </p:spPr>
      </p:sp>
      <p:sp>
        <p:nvSpPr>
          <p:cNvPr id="24" name="Shape 22"/>
          <p:cNvSpPr/>
          <p:nvPr/>
        </p:nvSpPr>
        <p:spPr>
          <a:xfrm>
            <a:off x="6236208" y="1828800"/>
            <a:ext cx="457200" cy="457200"/>
          </a:xfrm>
          <a:prstGeom prst="ellipse">
            <a:avLst/>
          </a:prstGeom>
          <a:solidFill>
            <a:srgbClr val="76B900"/>
          </a:solidFill>
          <a:ln/>
        </p:spPr>
      </p:sp>
      <p:sp>
        <p:nvSpPr>
          <p:cNvPr id="25" name="Text 23"/>
          <p:cNvSpPr/>
          <p:nvPr/>
        </p:nvSpPr>
        <p:spPr>
          <a:xfrm>
            <a:off x="6236208" y="1828800"/>
            <a:ext cx="457200" cy="457200"/>
          </a:xfrm>
          <a:prstGeom prst="rect">
            <a:avLst/>
          </a:prstGeom>
          <a:noFill/>
          <a:ln/>
        </p:spPr>
        <p:txBody>
          <a:bodyPr wrap="square" lIns="0" tIns="0" rIns="0" bIns="0" rtlCol="0" anchor="ctr"/>
          <a:lstStyle/>
          <a:p>
            <a:pPr algn="ctr" indent="0" marL="0">
              <a:buNone/>
            </a:pPr>
            <a:r>
              <a:rPr lang="en-US" sz="1800" dirty="0">
                <a:solidFill>
                  <a:srgbClr val="76B900"/>
                </a:solidFill>
                <a:latin typeface="Arial Black" pitchFamily="34" charset="0"/>
                <a:ea typeface="Arial Black" pitchFamily="34" charset="-122"/>
                <a:cs typeface="Arial Black" pitchFamily="34" charset="-120"/>
              </a:rPr>
              <a:t>4</a:t>
            </a:r>
            <a:endParaRPr lang="en-US" sz="1800" dirty="0"/>
          </a:p>
        </p:txBody>
      </p:sp>
      <p:sp>
        <p:nvSpPr>
          <p:cNvPr id="26" name="Text 24"/>
          <p:cNvSpPr/>
          <p:nvPr/>
        </p:nvSpPr>
        <p:spPr>
          <a:xfrm>
            <a:off x="5760720" y="2423160"/>
            <a:ext cx="1417320" cy="320040"/>
          </a:xfrm>
          <a:prstGeom prst="rect">
            <a:avLst/>
          </a:prstGeom>
          <a:noFill/>
          <a:ln/>
        </p:spPr>
        <p:txBody>
          <a:bodyPr wrap="square" lIns="0" tIns="0" rIns="0" bIns="0" rtlCol="0" anchor="ctr"/>
          <a:lstStyle/>
          <a:p>
            <a:pPr algn="ctr" indent="0" marL="0">
              <a:buNone/>
            </a:pPr>
            <a:r>
              <a:rPr lang="en-US" sz="1200" b="1" dirty="0">
                <a:solidFill>
                  <a:srgbClr val="E2E8F0"/>
                </a:solidFill>
                <a:latin typeface="Calibri" pitchFamily="34" charset="0"/>
                <a:ea typeface="Calibri" pitchFamily="34" charset="-122"/>
                <a:cs typeface="Calibri" pitchFamily="34" charset="-120"/>
              </a:rPr>
              <a:t>WebGPU Compute</a:t>
            </a:r>
            <a:endParaRPr lang="en-US" sz="1200" dirty="0"/>
          </a:p>
        </p:txBody>
      </p:sp>
      <p:sp>
        <p:nvSpPr>
          <p:cNvPr id="27" name="Text 25"/>
          <p:cNvSpPr/>
          <p:nvPr/>
        </p:nvSpPr>
        <p:spPr>
          <a:xfrm>
            <a:off x="5760720" y="2788920"/>
            <a:ext cx="1417320" cy="1371600"/>
          </a:xfrm>
          <a:prstGeom prst="rect">
            <a:avLst/>
          </a:prstGeom>
          <a:noFill/>
          <a:ln/>
        </p:spPr>
        <p:txBody>
          <a:bodyPr wrap="square" lIns="0" tIns="0" rIns="0" bIns="0" rtlCol="0" anchor="ctr"/>
          <a:lstStyle/>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500K particles on GPU</a:t>
            </a:r>
            <a:endParaRPr lang="en-US" sz="900" dirty="0"/>
          </a:p>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WGSL compute shaders</a:t>
            </a:r>
            <a:endParaRPr lang="en-US" sz="900" dirty="0"/>
          </a:p>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Additive glow rendering</a:t>
            </a:r>
            <a:endParaRPr lang="en-US" sz="900" dirty="0"/>
          </a:p>
        </p:txBody>
      </p:sp>
      <p:sp>
        <p:nvSpPr>
          <p:cNvPr id="28" name="Text 26"/>
          <p:cNvSpPr/>
          <p:nvPr/>
        </p:nvSpPr>
        <p:spPr>
          <a:xfrm>
            <a:off x="7269480" y="2651760"/>
            <a:ext cx="137160" cy="365760"/>
          </a:xfrm>
          <a:prstGeom prst="rect">
            <a:avLst/>
          </a:prstGeom>
          <a:noFill/>
          <a:ln/>
        </p:spPr>
        <p:txBody>
          <a:bodyPr wrap="square" lIns="0" tIns="0" rIns="0" bIns="0"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&gt;</a:t>
            </a:r>
            <a:endParaRPr lang="en-US" sz="1600" dirty="0"/>
          </a:p>
        </p:txBody>
      </p:sp>
      <p:sp>
        <p:nvSpPr>
          <p:cNvPr id="29" name="Shape 27"/>
          <p:cNvSpPr/>
          <p:nvPr/>
        </p:nvSpPr>
        <p:spPr>
          <a:xfrm>
            <a:off x="7406640" y="1645920"/>
            <a:ext cx="1600200" cy="2926080"/>
          </a:xfrm>
          <a:prstGeom prst="rect">
            <a:avLst>
              <a:gd name="adj" fmla="val 4571"/>
            </a:avLst>
          </a:prstGeom>
          <a:solidFill>
            <a:srgbClr val="1A2236"/>
          </a:solidFill>
          <a:ln/>
        </p:spPr>
      </p:sp>
      <p:sp>
        <p:nvSpPr>
          <p:cNvPr id="30" name="Shape 28"/>
          <p:cNvSpPr/>
          <p:nvPr/>
        </p:nvSpPr>
        <p:spPr>
          <a:xfrm>
            <a:off x="7973568" y="1828800"/>
            <a:ext cx="457200" cy="457200"/>
          </a:xfrm>
          <a:prstGeom prst="ellipse">
            <a:avLst/>
          </a:prstGeom>
          <a:solidFill>
            <a:srgbClr val="EF4444"/>
          </a:solidFill>
          <a:ln/>
        </p:spPr>
      </p:sp>
      <p:sp>
        <p:nvSpPr>
          <p:cNvPr id="31" name="Text 29"/>
          <p:cNvSpPr/>
          <p:nvPr/>
        </p:nvSpPr>
        <p:spPr>
          <a:xfrm>
            <a:off x="7973568" y="1828800"/>
            <a:ext cx="457200" cy="457200"/>
          </a:xfrm>
          <a:prstGeom prst="rect">
            <a:avLst/>
          </a:prstGeom>
          <a:noFill/>
          <a:ln/>
        </p:spPr>
        <p:txBody>
          <a:bodyPr wrap="square" lIns="0" tIns="0" rIns="0" bIns="0" rtlCol="0" anchor="ctr"/>
          <a:lstStyle/>
          <a:p>
            <a:pPr algn="ctr" indent="0" marL="0">
              <a:buNone/>
            </a:pPr>
            <a:r>
              <a:rPr lang="en-US" sz="1800" dirty="0">
                <a:solidFill>
                  <a:srgbClr val="EF4444"/>
                </a:solidFill>
                <a:latin typeface="Arial Black" pitchFamily="34" charset="0"/>
                <a:ea typeface="Arial Black" pitchFamily="34" charset="-122"/>
                <a:cs typeface="Arial Black" pitchFamily="34" charset="-120"/>
              </a:rPr>
              <a:t>5</a:t>
            </a:r>
            <a:endParaRPr lang="en-US" sz="1800" dirty="0"/>
          </a:p>
        </p:txBody>
      </p:sp>
      <p:sp>
        <p:nvSpPr>
          <p:cNvPr id="32" name="Text 30"/>
          <p:cNvSpPr/>
          <p:nvPr/>
        </p:nvSpPr>
        <p:spPr>
          <a:xfrm>
            <a:off x="7498080" y="2423160"/>
            <a:ext cx="1417320" cy="320040"/>
          </a:xfrm>
          <a:prstGeom prst="rect">
            <a:avLst/>
          </a:prstGeom>
          <a:noFill/>
          <a:ln/>
        </p:spPr>
        <p:txBody>
          <a:bodyPr wrap="square" lIns="0" tIns="0" rIns="0" bIns="0" rtlCol="0" anchor="ctr"/>
          <a:lstStyle/>
          <a:p>
            <a:pPr algn="ctr" indent="0" marL="0">
              <a:buNone/>
            </a:pPr>
            <a:r>
              <a:rPr lang="en-US" sz="1200" b="1" dirty="0">
                <a:solidFill>
                  <a:srgbClr val="E2E8F0"/>
                </a:solidFill>
                <a:latin typeface="Calibri" pitchFamily="34" charset="0"/>
                <a:ea typeface="Calibri" pitchFamily="34" charset="-122"/>
                <a:cs typeface="Calibri" pitchFamily="34" charset="-120"/>
              </a:rPr>
              <a:t>Browser Output</a:t>
            </a:r>
            <a:endParaRPr lang="en-US" sz="1200" dirty="0"/>
          </a:p>
        </p:txBody>
      </p:sp>
      <p:sp>
        <p:nvSpPr>
          <p:cNvPr id="33" name="Text 31"/>
          <p:cNvSpPr/>
          <p:nvPr/>
        </p:nvSpPr>
        <p:spPr>
          <a:xfrm>
            <a:off x="7498080" y="2788920"/>
            <a:ext cx="1417320" cy="1371600"/>
          </a:xfrm>
          <a:prstGeom prst="rect">
            <a:avLst/>
          </a:prstGeom>
          <a:noFill/>
          <a:ln/>
        </p:spPr>
        <p:txBody>
          <a:bodyPr wrap="square" lIns="0" tIns="0" rIns="0" bIns="0" rtlCol="0" anchor="ctr"/>
          <a:lstStyle/>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ArcGIS dark basemap</a:t>
            </a:r>
            <a:endParaRPr lang="en-US" sz="900" dirty="0"/>
          </a:p>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Interactive controls</a:t>
            </a:r>
            <a:endParaRPr lang="en-US" sz="900" dirty="0"/>
          </a:p>
          <a:p>
            <a:pPr algn="ctr" indent="0" marL="0">
              <a:lnSpc>
                <a:spcPct val="150000"/>
              </a:lnSpc>
              <a:buNone/>
            </a:pPr>
            <a:r>
              <a:rPr lang="en-US" sz="900" dirty="0">
                <a:solidFill>
                  <a:srgbClr val="94A3B8"/>
                </a:solidFill>
                <a:latin typeface="Calibri" pitchFamily="34" charset="0"/>
                <a:ea typeface="Calibri" pitchFamily="34" charset="-122"/>
                <a:cs typeface="Calibri" pitchFamily="34" charset="-120"/>
              </a:rPr>
              <a:t>60 FPS animation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p:spPr>
      </p:sp>
      <p:sp>
        <p:nvSpPr>
          <p:cNvPr id="3" name="Text 1"/>
          <p:cNvSpPr/>
          <p:nvPr/>
        </p:nvSpPr>
        <p:spPr>
          <a:xfrm>
            <a:off x="731520" y="365760"/>
            <a:ext cx="7315200" cy="457200"/>
          </a:xfrm>
          <a:prstGeom prst="rect">
            <a:avLst/>
          </a:prstGeom>
          <a:noFill/>
          <a:ln/>
        </p:spPr>
        <p:txBody>
          <a:bodyPr wrap="square" lIns="0" tIns="0" rIns="0" bIns="0" rtlCol="0" anchor="ctr"/>
          <a:lstStyle/>
          <a:p>
            <a:pPr indent="0" marL="0">
              <a:buNone/>
            </a:pPr>
            <a:r>
              <a:rPr lang="en-US" sz="1100" spc="400" kern="0" dirty="0">
                <a:solidFill>
                  <a:srgbClr val="00B4D8"/>
                </a:solidFill>
                <a:latin typeface="Calibri" pitchFamily="34" charset="0"/>
                <a:ea typeface="Calibri" pitchFamily="34" charset="-122"/>
                <a:cs typeface="Calibri" pitchFamily="34" charset="-120"/>
              </a:rPr>
              <a:t>DATA SOURCES</a:t>
            </a:r>
            <a:endParaRPr lang="en-US" sz="1100" dirty="0"/>
          </a:p>
        </p:txBody>
      </p:sp>
      <p:sp>
        <p:nvSpPr>
          <p:cNvPr id="4" name="Text 2"/>
          <p:cNvSpPr/>
          <p:nvPr/>
        </p:nvSpPr>
        <p:spPr>
          <a:xfrm>
            <a:off x="731520" y="777240"/>
            <a:ext cx="8229600" cy="548640"/>
          </a:xfrm>
          <a:prstGeom prst="rect">
            <a:avLst/>
          </a:prstGeom>
          <a:noFill/>
          <a:ln/>
        </p:spPr>
        <p:txBody>
          <a:bodyPr wrap="square" lIns="0" tIns="0" rIns="0" bIns="0" rtlCol="0" anchor="ctr"/>
          <a:lstStyle/>
          <a:p>
            <a:pPr indent="0" marL="0">
              <a:buNone/>
            </a:pPr>
            <a:r>
              <a:rPr lang="en-US" sz="3000" dirty="0">
                <a:solidFill>
                  <a:srgbClr val="E2E8F0"/>
                </a:solidFill>
                <a:latin typeface="Arial Black" pitchFamily="34" charset="0"/>
                <a:ea typeface="Arial Black" pitchFamily="34" charset="-122"/>
                <a:cs typeface="Arial Black" pitchFamily="34" charset="-120"/>
              </a:rPr>
              <a:t>NASA GEOS-FP Forward Processing</a:t>
            </a:r>
            <a:endParaRPr lang="en-US" sz="3000" dirty="0"/>
          </a:p>
        </p:txBody>
      </p:sp>
      <p:sp>
        <p:nvSpPr>
          <p:cNvPr id="5" name="Text 3"/>
          <p:cNvSpPr/>
          <p:nvPr/>
        </p:nvSpPr>
        <p:spPr>
          <a:xfrm>
            <a:off x="731520" y="1371600"/>
            <a:ext cx="73152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Real-time atmospheric data streamed via OPeNDAP — no authentication required.</a:t>
            </a:r>
            <a:endParaRPr lang="en-US" sz="1400" dirty="0"/>
          </a:p>
        </p:txBody>
      </p:sp>
      <p:sp>
        <p:nvSpPr>
          <p:cNvPr id="6" name="Shape 4"/>
          <p:cNvSpPr/>
          <p:nvPr/>
        </p:nvSpPr>
        <p:spPr>
          <a:xfrm>
            <a:off x="731520" y="2011680"/>
            <a:ext cx="3749040" cy="2560320"/>
          </a:xfrm>
          <a:prstGeom prst="rect">
            <a:avLst>
              <a:gd name="adj" fmla="val 2857"/>
            </a:avLst>
          </a:prstGeom>
          <a:solidFill>
            <a:srgbClr val="1A2236"/>
          </a:solidFill>
          <a:ln/>
        </p:spPr>
      </p:sp>
      <p:sp>
        <p:nvSpPr>
          <p:cNvPr id="7" name="Text 5"/>
          <p:cNvSpPr/>
          <p:nvPr/>
        </p:nvSpPr>
        <p:spPr>
          <a:xfrm>
            <a:off x="1005840" y="2148840"/>
            <a:ext cx="3200400" cy="274320"/>
          </a:xfrm>
          <a:prstGeom prst="rect">
            <a:avLst/>
          </a:prstGeom>
          <a:noFill/>
          <a:ln/>
        </p:spPr>
        <p:txBody>
          <a:bodyPr wrap="square" lIns="0" tIns="0" rIns="0" bIns="0" rtlCol="0" anchor="ctr"/>
          <a:lstStyle/>
          <a:p>
            <a:pPr indent="0" marL="0">
              <a:buNone/>
            </a:pPr>
            <a:r>
              <a:rPr lang="en-US" sz="1000" spc="300" kern="0" dirty="0">
                <a:solidFill>
                  <a:srgbClr val="00B4D8"/>
                </a:solidFill>
                <a:latin typeface="Calibri" pitchFamily="34" charset="0"/>
                <a:ea typeface="Calibri" pitchFamily="34" charset="-122"/>
                <a:cs typeface="Calibri" pitchFamily="34" charset="-120"/>
              </a:rPr>
              <a:t>WIND VECTORS</a:t>
            </a:r>
            <a:endParaRPr lang="en-US" sz="1000" dirty="0"/>
          </a:p>
        </p:txBody>
      </p:sp>
      <p:sp>
        <p:nvSpPr>
          <p:cNvPr id="8" name="Text 6"/>
          <p:cNvSpPr/>
          <p:nvPr/>
        </p:nvSpPr>
        <p:spPr>
          <a:xfrm>
            <a:off x="1005840" y="2514600"/>
            <a:ext cx="3200400" cy="1920240"/>
          </a:xfrm>
          <a:prstGeom prst="rect">
            <a:avLst/>
          </a:prstGeom>
          <a:noFill/>
          <a:ln/>
        </p:spPr>
        <p:txBody>
          <a:bodyPr wrap="square" lIns="0" tIns="0" rIns="0" bIns="0" rtlCol="0" anchor="ctr"/>
          <a:lstStyle/>
          <a:p>
            <a:pPr indent="0" marL="0">
              <a:lnSpc>
                <a:spcPct val="130000"/>
              </a:lnSpc>
              <a:buNone/>
            </a:pPr>
            <a:r>
              <a:rPr lang="en-US" sz="1100" b="1" dirty="0">
                <a:solidFill>
                  <a:srgbClr val="E2E8F0"/>
                </a:solidFill>
                <a:latin typeface="Calibri" pitchFamily="34" charset="0"/>
                <a:ea typeface="Calibri" pitchFamily="34" charset="-122"/>
                <a:cs typeface="Calibri" pitchFamily="34" charset="-120"/>
              </a:rPr>
              <a:t>U10M</a:t>
            </a:r>
            <a:endParaRPr lang="en-US" sz="1100" dirty="0"/>
          </a:p>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Eastward wind at 10m above surface</a:t>
            </a:r>
            <a:endParaRPr lang="en-US" sz="1100" dirty="0"/>
          </a:p>
          <a:p>
            <a:pPr indent="0" marL="0">
              <a:lnSpc>
                <a:spcPct val="130000"/>
              </a:lnSpc>
              <a:buNone/>
            </a:pPr>
            <a:endParaRPr lang="en-US" sz="1100" dirty="0"/>
          </a:p>
          <a:p>
            <a:pPr indent="0" marL="0">
              <a:lnSpc>
                <a:spcPct val="130000"/>
              </a:lnSpc>
              <a:buNone/>
            </a:pPr>
            <a:r>
              <a:rPr lang="en-US" sz="1100" b="1" dirty="0">
                <a:solidFill>
                  <a:srgbClr val="E2E8F0"/>
                </a:solidFill>
                <a:latin typeface="Calibri" pitchFamily="34" charset="0"/>
                <a:ea typeface="Calibri" pitchFamily="34" charset="-122"/>
                <a:cs typeface="Calibri" pitchFamily="34" charset="-120"/>
              </a:rPr>
              <a:t>V10M</a:t>
            </a:r>
            <a:endParaRPr lang="en-US" sz="1100" dirty="0"/>
          </a:p>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Northward wind at 10m above surface</a:t>
            </a:r>
            <a:endParaRPr lang="en-US" sz="1100" dirty="0"/>
          </a:p>
          <a:p>
            <a:pPr indent="0" marL="0">
              <a:lnSpc>
                <a:spcPct val="130000"/>
              </a:lnSpc>
              <a:buNone/>
            </a:pPr>
            <a:endParaRPr lang="en-US" sz="1100" dirty="0"/>
          </a:p>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Resolution: 0.25° global (~28 km)</a:t>
            </a:r>
            <a:endParaRPr lang="en-US" sz="1100" dirty="0"/>
          </a:p>
          <a:p>
            <a:pPr indent="0" marL="0">
              <a:lnSpc>
                <a:spcPct val="130000"/>
              </a:lnSpc>
              <a:buNone/>
            </a:pPr>
            <a:r>
              <a:rPr lang="en-US" sz="1100" dirty="0">
                <a:solidFill>
                  <a:srgbClr val="94A3B8"/>
                </a:solidFill>
                <a:latin typeface="Calibri" pitchFamily="34" charset="0"/>
                <a:ea typeface="Calibri" pitchFamily="34" charset="-122"/>
                <a:cs typeface="Calibri" pitchFamily="34" charset="-120"/>
              </a:rPr>
              <a:t>Temporal: 3-hourly, rolling ~3 weeks</a:t>
            </a:r>
            <a:endParaRPr lang="en-US" sz="1100" dirty="0"/>
          </a:p>
        </p:txBody>
      </p:sp>
      <p:sp>
        <p:nvSpPr>
          <p:cNvPr id="9" name="Shape 7"/>
          <p:cNvSpPr/>
          <p:nvPr/>
        </p:nvSpPr>
        <p:spPr>
          <a:xfrm>
            <a:off x="4663440" y="2011680"/>
            <a:ext cx="3749040" cy="2560320"/>
          </a:xfrm>
          <a:prstGeom prst="rect">
            <a:avLst>
              <a:gd name="adj" fmla="val 2857"/>
            </a:avLst>
          </a:prstGeom>
          <a:solidFill>
            <a:srgbClr val="1A2236"/>
          </a:solidFill>
          <a:ln/>
        </p:spPr>
      </p:sp>
      <p:sp>
        <p:nvSpPr>
          <p:cNvPr id="10" name="Text 8"/>
          <p:cNvSpPr/>
          <p:nvPr/>
        </p:nvSpPr>
        <p:spPr>
          <a:xfrm>
            <a:off x="4937760" y="2148840"/>
            <a:ext cx="3200400" cy="274320"/>
          </a:xfrm>
          <a:prstGeom prst="rect">
            <a:avLst/>
          </a:prstGeom>
          <a:noFill/>
          <a:ln/>
        </p:spPr>
        <p:txBody>
          <a:bodyPr wrap="square" lIns="0" tIns="0" rIns="0" bIns="0" rtlCol="0" anchor="ctr"/>
          <a:lstStyle/>
          <a:p>
            <a:pPr indent="0" marL="0">
              <a:buNone/>
            </a:pPr>
            <a:r>
              <a:rPr lang="en-US" sz="1000" spc="300" kern="0" dirty="0">
                <a:solidFill>
                  <a:srgbClr val="8B5CF6"/>
                </a:solidFill>
                <a:latin typeface="Calibri" pitchFamily="34" charset="0"/>
                <a:ea typeface="Calibri" pitchFamily="34" charset="-122"/>
                <a:cs typeface="Calibri" pitchFamily="34" charset="-120"/>
              </a:rPr>
              <a:t>AEROSOL SPECIES</a:t>
            </a:r>
            <a:endParaRPr lang="en-US" sz="1000" dirty="0"/>
          </a:p>
        </p:txBody>
      </p:sp>
      <p:sp>
        <p:nvSpPr>
          <p:cNvPr id="11" name="Shape 9"/>
          <p:cNvSpPr/>
          <p:nvPr/>
        </p:nvSpPr>
        <p:spPr>
          <a:xfrm>
            <a:off x="5029200" y="2560320"/>
            <a:ext cx="109728" cy="109728"/>
          </a:xfrm>
          <a:prstGeom prst="rect">
            <a:avLst>
              <a:gd name="adj" fmla="val 16667"/>
            </a:avLst>
          </a:prstGeom>
          <a:solidFill>
            <a:srgbClr val="EF4444"/>
          </a:solidFill>
          <a:ln/>
        </p:spPr>
      </p:sp>
      <p:sp>
        <p:nvSpPr>
          <p:cNvPr id="12" name="Text 10"/>
          <p:cNvSpPr/>
          <p:nvPr/>
        </p:nvSpPr>
        <p:spPr>
          <a:xfrm>
            <a:off x="5257800" y="2523744"/>
            <a:ext cx="1097280" cy="182880"/>
          </a:xfrm>
          <a:prstGeom prst="rect">
            <a:avLst/>
          </a:prstGeom>
          <a:noFill/>
          <a:ln/>
        </p:spPr>
        <p:txBody>
          <a:bodyPr wrap="square" lIns="0" tIns="0" rIns="0" bIns="0" rtlCol="0" anchor="ctr"/>
          <a:lstStyle/>
          <a:p>
            <a:pPr indent="0" marL="0">
              <a:buNone/>
            </a:pPr>
            <a:r>
              <a:rPr lang="en-US" sz="1000" b="1" dirty="0">
                <a:solidFill>
                  <a:srgbClr val="E2E8F0"/>
                </a:solidFill>
                <a:latin typeface="Consolas" pitchFamily="34" charset="0"/>
                <a:ea typeface="Consolas" pitchFamily="34" charset="-122"/>
                <a:cs typeface="Consolas" pitchFamily="34" charset="-120"/>
              </a:rPr>
              <a:t>BCSMASS</a:t>
            </a:r>
            <a:endParaRPr lang="en-US" sz="1000" dirty="0"/>
          </a:p>
        </p:txBody>
      </p:sp>
      <p:sp>
        <p:nvSpPr>
          <p:cNvPr id="13" name="Text 11"/>
          <p:cNvSpPr/>
          <p:nvPr/>
        </p:nvSpPr>
        <p:spPr>
          <a:xfrm>
            <a:off x="6400800" y="2523744"/>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Black Carbon (soot, combustion)</a:t>
            </a:r>
            <a:endParaRPr lang="en-US" sz="900" dirty="0"/>
          </a:p>
        </p:txBody>
      </p:sp>
      <p:sp>
        <p:nvSpPr>
          <p:cNvPr id="14" name="Shape 12"/>
          <p:cNvSpPr/>
          <p:nvPr/>
        </p:nvSpPr>
        <p:spPr>
          <a:xfrm>
            <a:off x="5029200" y="2944368"/>
            <a:ext cx="109728" cy="109728"/>
          </a:xfrm>
          <a:prstGeom prst="rect">
            <a:avLst>
              <a:gd name="adj" fmla="val 16667"/>
            </a:avLst>
          </a:prstGeom>
          <a:solidFill>
            <a:srgbClr val="F59E0B"/>
          </a:solidFill>
          <a:ln/>
        </p:spPr>
      </p:sp>
      <p:sp>
        <p:nvSpPr>
          <p:cNvPr id="15" name="Text 13"/>
          <p:cNvSpPr/>
          <p:nvPr/>
        </p:nvSpPr>
        <p:spPr>
          <a:xfrm>
            <a:off x="5257800" y="2907792"/>
            <a:ext cx="1097280" cy="182880"/>
          </a:xfrm>
          <a:prstGeom prst="rect">
            <a:avLst/>
          </a:prstGeom>
          <a:noFill/>
          <a:ln/>
        </p:spPr>
        <p:txBody>
          <a:bodyPr wrap="square" lIns="0" tIns="0" rIns="0" bIns="0" rtlCol="0" anchor="ctr"/>
          <a:lstStyle/>
          <a:p>
            <a:pPr indent="0" marL="0">
              <a:buNone/>
            </a:pPr>
            <a:r>
              <a:rPr lang="en-US" sz="1000" b="1" dirty="0">
                <a:solidFill>
                  <a:srgbClr val="E2E8F0"/>
                </a:solidFill>
                <a:latin typeface="Consolas" pitchFamily="34" charset="0"/>
                <a:ea typeface="Consolas" pitchFamily="34" charset="-122"/>
                <a:cs typeface="Consolas" pitchFamily="34" charset="-120"/>
              </a:rPr>
              <a:t>DUSMASS</a:t>
            </a:r>
            <a:endParaRPr lang="en-US" sz="1000" dirty="0"/>
          </a:p>
        </p:txBody>
      </p:sp>
      <p:sp>
        <p:nvSpPr>
          <p:cNvPr id="16" name="Text 14"/>
          <p:cNvSpPr/>
          <p:nvPr/>
        </p:nvSpPr>
        <p:spPr>
          <a:xfrm>
            <a:off x="6400800" y="2907792"/>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Mineral Dust (Sahara, Gobi)</a:t>
            </a:r>
            <a:endParaRPr lang="en-US" sz="900" dirty="0"/>
          </a:p>
        </p:txBody>
      </p:sp>
      <p:sp>
        <p:nvSpPr>
          <p:cNvPr id="17" name="Shape 15"/>
          <p:cNvSpPr/>
          <p:nvPr/>
        </p:nvSpPr>
        <p:spPr>
          <a:xfrm>
            <a:off x="5029200" y="3328416"/>
            <a:ext cx="109728" cy="109728"/>
          </a:xfrm>
          <a:prstGeom prst="rect">
            <a:avLst>
              <a:gd name="adj" fmla="val 16667"/>
            </a:avLst>
          </a:prstGeom>
          <a:solidFill>
            <a:srgbClr val="3B82F6"/>
          </a:solidFill>
          <a:ln/>
        </p:spPr>
      </p:sp>
      <p:sp>
        <p:nvSpPr>
          <p:cNvPr id="18" name="Text 16"/>
          <p:cNvSpPr/>
          <p:nvPr/>
        </p:nvSpPr>
        <p:spPr>
          <a:xfrm>
            <a:off x="5257800" y="3291840"/>
            <a:ext cx="1097280" cy="182880"/>
          </a:xfrm>
          <a:prstGeom prst="rect">
            <a:avLst/>
          </a:prstGeom>
          <a:noFill/>
          <a:ln/>
        </p:spPr>
        <p:txBody>
          <a:bodyPr wrap="square" lIns="0" tIns="0" rIns="0" bIns="0" rtlCol="0" anchor="ctr"/>
          <a:lstStyle/>
          <a:p>
            <a:pPr indent="0" marL="0">
              <a:buNone/>
            </a:pPr>
            <a:r>
              <a:rPr lang="en-US" sz="1000" b="1" dirty="0">
                <a:solidFill>
                  <a:srgbClr val="E2E8F0"/>
                </a:solidFill>
                <a:latin typeface="Consolas" pitchFamily="34" charset="0"/>
                <a:ea typeface="Consolas" pitchFamily="34" charset="-122"/>
                <a:cs typeface="Consolas" pitchFamily="34" charset="-120"/>
              </a:rPr>
              <a:t>SSSMASS</a:t>
            </a:r>
            <a:endParaRPr lang="en-US" sz="1000" dirty="0"/>
          </a:p>
        </p:txBody>
      </p:sp>
      <p:sp>
        <p:nvSpPr>
          <p:cNvPr id="19" name="Text 17"/>
          <p:cNvSpPr/>
          <p:nvPr/>
        </p:nvSpPr>
        <p:spPr>
          <a:xfrm>
            <a:off x="6400800" y="3291840"/>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Sea Salt (ocean spray)</a:t>
            </a:r>
            <a:endParaRPr lang="en-US" sz="900" dirty="0"/>
          </a:p>
        </p:txBody>
      </p:sp>
      <p:sp>
        <p:nvSpPr>
          <p:cNvPr id="20" name="Shape 18"/>
          <p:cNvSpPr/>
          <p:nvPr/>
        </p:nvSpPr>
        <p:spPr>
          <a:xfrm>
            <a:off x="5029200" y="3712464"/>
            <a:ext cx="109728" cy="109728"/>
          </a:xfrm>
          <a:prstGeom prst="rect">
            <a:avLst>
              <a:gd name="adj" fmla="val 16667"/>
            </a:avLst>
          </a:prstGeom>
          <a:solidFill>
            <a:srgbClr val="8B5CF6"/>
          </a:solidFill>
          <a:ln/>
        </p:spPr>
      </p:sp>
      <p:sp>
        <p:nvSpPr>
          <p:cNvPr id="21" name="Text 19"/>
          <p:cNvSpPr/>
          <p:nvPr/>
        </p:nvSpPr>
        <p:spPr>
          <a:xfrm>
            <a:off x="5257800" y="3675888"/>
            <a:ext cx="1097280" cy="182880"/>
          </a:xfrm>
          <a:prstGeom prst="rect">
            <a:avLst/>
          </a:prstGeom>
          <a:noFill/>
          <a:ln/>
        </p:spPr>
        <p:txBody>
          <a:bodyPr wrap="square" lIns="0" tIns="0" rIns="0" bIns="0" rtlCol="0" anchor="ctr"/>
          <a:lstStyle/>
          <a:p>
            <a:pPr indent="0" marL="0">
              <a:buNone/>
            </a:pPr>
            <a:r>
              <a:rPr lang="en-US" sz="1000" b="1" dirty="0">
                <a:solidFill>
                  <a:srgbClr val="E2E8F0"/>
                </a:solidFill>
                <a:latin typeface="Consolas" pitchFamily="34" charset="0"/>
                <a:ea typeface="Consolas" pitchFamily="34" charset="-122"/>
                <a:cs typeface="Consolas" pitchFamily="34" charset="-120"/>
              </a:rPr>
              <a:t>OCSMASS</a:t>
            </a:r>
            <a:endParaRPr lang="en-US" sz="1000" dirty="0"/>
          </a:p>
        </p:txBody>
      </p:sp>
      <p:sp>
        <p:nvSpPr>
          <p:cNvPr id="22" name="Text 20"/>
          <p:cNvSpPr/>
          <p:nvPr/>
        </p:nvSpPr>
        <p:spPr>
          <a:xfrm>
            <a:off x="6400800" y="3675888"/>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Organic Carbon</a:t>
            </a:r>
            <a:endParaRPr lang="en-US" sz="900" dirty="0"/>
          </a:p>
        </p:txBody>
      </p:sp>
      <p:sp>
        <p:nvSpPr>
          <p:cNvPr id="23" name="Shape 21"/>
          <p:cNvSpPr/>
          <p:nvPr/>
        </p:nvSpPr>
        <p:spPr>
          <a:xfrm>
            <a:off x="5029200" y="4096512"/>
            <a:ext cx="109728" cy="109728"/>
          </a:xfrm>
          <a:prstGeom prst="rect">
            <a:avLst>
              <a:gd name="adj" fmla="val 16667"/>
            </a:avLst>
          </a:prstGeom>
          <a:solidFill>
            <a:srgbClr val="94A3B8"/>
          </a:solidFill>
          <a:ln/>
        </p:spPr>
      </p:sp>
      <p:sp>
        <p:nvSpPr>
          <p:cNvPr id="24" name="Text 22"/>
          <p:cNvSpPr/>
          <p:nvPr/>
        </p:nvSpPr>
        <p:spPr>
          <a:xfrm>
            <a:off x="5257800" y="4059936"/>
            <a:ext cx="1097280" cy="182880"/>
          </a:xfrm>
          <a:prstGeom prst="rect">
            <a:avLst/>
          </a:prstGeom>
          <a:noFill/>
          <a:ln/>
        </p:spPr>
        <p:txBody>
          <a:bodyPr wrap="square" lIns="0" tIns="0" rIns="0" bIns="0" rtlCol="0" anchor="ctr"/>
          <a:lstStyle/>
          <a:p>
            <a:pPr indent="0" marL="0">
              <a:buNone/>
            </a:pPr>
            <a:r>
              <a:rPr lang="en-US" sz="1000" b="1" dirty="0">
                <a:solidFill>
                  <a:srgbClr val="E2E8F0"/>
                </a:solidFill>
                <a:latin typeface="Consolas" pitchFamily="34" charset="0"/>
                <a:ea typeface="Consolas" pitchFamily="34" charset="-122"/>
                <a:cs typeface="Consolas" pitchFamily="34" charset="-120"/>
              </a:rPr>
              <a:t>SO4SMASS</a:t>
            </a:r>
            <a:endParaRPr lang="en-US" sz="1000" dirty="0"/>
          </a:p>
        </p:txBody>
      </p:sp>
      <p:sp>
        <p:nvSpPr>
          <p:cNvPr id="25" name="Text 23"/>
          <p:cNvSpPr/>
          <p:nvPr/>
        </p:nvSpPr>
        <p:spPr>
          <a:xfrm>
            <a:off x="6400800" y="4059936"/>
            <a:ext cx="18288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Sulfate Aerosols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8B5CF6"/>
          </a:solidFill>
          <a:ln/>
        </p:spPr>
      </p:sp>
      <p:sp>
        <p:nvSpPr>
          <p:cNvPr id="3" name="Text 1"/>
          <p:cNvSpPr/>
          <p:nvPr/>
        </p:nvSpPr>
        <p:spPr>
          <a:xfrm>
            <a:off x="731520" y="365760"/>
            <a:ext cx="7315200" cy="457200"/>
          </a:xfrm>
          <a:prstGeom prst="rect">
            <a:avLst/>
          </a:prstGeom>
          <a:noFill/>
          <a:ln/>
        </p:spPr>
        <p:txBody>
          <a:bodyPr wrap="square" lIns="0" tIns="0" rIns="0" bIns="0" rtlCol="0" anchor="ctr"/>
          <a:lstStyle/>
          <a:p>
            <a:pPr indent="0" marL="0">
              <a:buNone/>
            </a:pPr>
            <a:r>
              <a:rPr lang="en-US" sz="1100" spc="400" kern="0" dirty="0">
                <a:solidFill>
                  <a:srgbClr val="8B5CF6"/>
                </a:solidFill>
                <a:latin typeface="Calibri" pitchFamily="34" charset="0"/>
                <a:ea typeface="Calibri" pitchFamily="34" charset="-122"/>
                <a:cs typeface="Calibri" pitchFamily="34" charset="-120"/>
              </a:rPr>
              <a:t>PROCESSING</a:t>
            </a:r>
            <a:endParaRPr lang="en-US" sz="1100" dirty="0"/>
          </a:p>
        </p:txBody>
      </p:sp>
      <p:sp>
        <p:nvSpPr>
          <p:cNvPr id="4" name="Text 2"/>
          <p:cNvSpPr/>
          <p:nvPr/>
        </p:nvSpPr>
        <p:spPr>
          <a:xfrm>
            <a:off x="731520" y="777240"/>
            <a:ext cx="8229600" cy="548640"/>
          </a:xfrm>
          <a:prstGeom prst="rect">
            <a:avLst/>
          </a:prstGeom>
          <a:noFill/>
          <a:ln/>
        </p:spPr>
        <p:txBody>
          <a:bodyPr wrap="square" lIns="0" tIns="0" rIns="0" bIns="0" rtlCol="0" anchor="ctr"/>
          <a:lstStyle/>
          <a:p>
            <a:pPr indent="0" marL="0">
              <a:buNone/>
            </a:pPr>
            <a:r>
              <a:rPr lang="en-US" sz="3000" dirty="0">
                <a:solidFill>
                  <a:srgbClr val="E2E8F0"/>
                </a:solidFill>
                <a:latin typeface="Arial Black" pitchFamily="34" charset="0"/>
                <a:ea typeface="Arial Black" pitchFamily="34" charset="-122"/>
                <a:cs typeface="Arial Black" pitchFamily="34" charset="-120"/>
              </a:rPr>
              <a:t>Aerosol Flux Computation</a:t>
            </a:r>
            <a:endParaRPr lang="en-US" sz="3000" dirty="0"/>
          </a:p>
        </p:txBody>
      </p:sp>
      <p:sp>
        <p:nvSpPr>
          <p:cNvPr id="5" name="Shape 3"/>
          <p:cNvSpPr/>
          <p:nvPr/>
        </p:nvSpPr>
        <p:spPr>
          <a:xfrm>
            <a:off x="731520" y="1554480"/>
            <a:ext cx="7680960" cy="731520"/>
          </a:xfrm>
          <a:prstGeom prst="rect">
            <a:avLst>
              <a:gd name="adj" fmla="val 10000"/>
            </a:avLst>
          </a:prstGeom>
          <a:solidFill>
            <a:srgbClr val="1A2236"/>
          </a:solidFill>
          <a:ln/>
        </p:spPr>
      </p:sp>
      <p:sp>
        <p:nvSpPr>
          <p:cNvPr id="6" name="Text 4"/>
          <p:cNvSpPr/>
          <p:nvPr/>
        </p:nvSpPr>
        <p:spPr>
          <a:xfrm>
            <a:off x="1005840" y="1645920"/>
            <a:ext cx="7315200" cy="548640"/>
          </a:xfrm>
          <a:prstGeom prst="rect">
            <a:avLst/>
          </a:prstGeom>
          <a:noFill/>
          <a:ln/>
        </p:spPr>
        <p:txBody>
          <a:bodyPr wrap="square" lIns="0" tIns="0" rIns="0" bIns="0" rtlCol="0" anchor="ctr"/>
          <a:lstStyle/>
          <a:p>
            <a:pPr algn="ctr" indent="0" marL="0">
              <a:buNone/>
            </a:pPr>
            <a:r>
              <a:rPr lang="en-US" sz="1800" dirty="0">
                <a:solidFill>
                  <a:srgbClr val="00B4D8"/>
                </a:solidFill>
                <a:latin typeface="Consolas" pitchFamily="34" charset="0"/>
                <a:ea typeface="Consolas" pitchFamily="34" charset="-122"/>
                <a:cs typeface="Consolas" pitchFamily="34" charset="-120"/>
              </a:rPr>
              <a:t>flux = wind_vector  x  normalize( aerosol_concentration, P95 )</a:t>
            </a:r>
            <a:endParaRPr lang="en-US" sz="1800" dirty="0"/>
          </a:p>
        </p:txBody>
      </p:sp>
      <p:sp>
        <p:nvSpPr>
          <p:cNvPr id="7" name="Text 5"/>
          <p:cNvSpPr/>
          <p:nvPr/>
        </p:nvSpPr>
        <p:spPr>
          <a:xfrm>
            <a:off x="731520" y="2468880"/>
            <a:ext cx="7680960" cy="548640"/>
          </a:xfrm>
          <a:prstGeom prst="rect">
            <a:avLst/>
          </a:prstGeom>
          <a:noFill/>
          <a:ln/>
        </p:spPr>
        <p:txBody>
          <a:bodyPr wrap="square" lIns="0" tIns="0" rIns="0" bIns="0" rtlCol="0" anchor="ctr"/>
          <a:lstStyle/>
          <a:p>
            <a:pPr indent="0" marL="0">
              <a:lnSpc>
                <a:spcPct val="140000"/>
              </a:lnSpc>
              <a:buNone/>
            </a:pPr>
            <a:r>
              <a:rPr lang="en-US" sz="1200" dirty="0">
                <a:solidFill>
                  <a:srgbClr val="94A3B8"/>
                </a:solidFill>
                <a:latin typeface="Calibri" pitchFamily="34" charset="0"/>
                <a:ea typeface="Calibri" pitchFamily="34" charset="-122"/>
                <a:cs typeface="Calibri" pitchFamily="34" charset="-120"/>
              </a:rPr>
              <a:t>This preserves wind direction but scales magnitude by how much aerosol is present.</a:t>
            </a:r>
            <a:endParaRPr lang="en-US" sz="1200" dirty="0"/>
          </a:p>
          <a:p>
            <a:pPr indent="0" marL="0">
              <a:lnSpc>
                <a:spcPct val="140000"/>
              </a:lnSpc>
              <a:buNone/>
            </a:pPr>
            <a:r>
              <a:rPr lang="en-US" sz="1200" dirty="0">
                <a:solidFill>
                  <a:srgbClr val="94A3B8"/>
                </a:solidFill>
                <a:latin typeface="Calibri" pitchFamily="34" charset="0"/>
                <a:ea typeface="Calibri" pitchFamily="34" charset="-122"/>
                <a:cs typeface="Calibri" pitchFamily="34" charset="-120"/>
              </a:rPr>
              <a:t>Particles are dense where concentration is high, absent where air is clean.</a:t>
            </a:r>
            <a:endParaRPr lang="en-US" sz="1200" dirty="0"/>
          </a:p>
        </p:txBody>
      </p:sp>
      <p:sp>
        <p:nvSpPr>
          <p:cNvPr id="8" name="Shape 6"/>
          <p:cNvSpPr/>
          <p:nvPr/>
        </p:nvSpPr>
        <p:spPr>
          <a:xfrm>
            <a:off x="731520" y="3200400"/>
            <a:ext cx="7680960" cy="1463040"/>
          </a:xfrm>
          <a:prstGeom prst="rect">
            <a:avLst>
              <a:gd name="adj" fmla="val 5000"/>
            </a:avLst>
          </a:prstGeom>
          <a:solidFill>
            <a:srgbClr val="1A2236"/>
          </a:solidFill>
          <a:ln/>
        </p:spPr>
      </p:sp>
      <p:sp>
        <p:nvSpPr>
          <p:cNvPr id="9" name="Text 7"/>
          <p:cNvSpPr/>
          <p:nvPr/>
        </p:nvSpPr>
        <p:spPr>
          <a:xfrm>
            <a:off x="1005840" y="3291840"/>
            <a:ext cx="3657600" cy="274320"/>
          </a:xfrm>
          <a:prstGeom prst="rect">
            <a:avLst/>
          </a:prstGeom>
          <a:noFill/>
          <a:ln/>
        </p:spPr>
        <p:txBody>
          <a:bodyPr wrap="square" lIns="0" tIns="0" rIns="0" bIns="0" rtlCol="0" anchor="ctr"/>
          <a:lstStyle/>
          <a:p>
            <a:pPr indent="0" marL="0">
              <a:buNone/>
            </a:pPr>
            <a:r>
              <a:rPr lang="en-US" sz="1000" spc="300" kern="0" dirty="0">
                <a:solidFill>
                  <a:srgbClr val="F59E0B"/>
                </a:solidFill>
                <a:latin typeface="Calibri" pitchFamily="34" charset="0"/>
                <a:ea typeface="Calibri" pitchFamily="34" charset="-122"/>
                <a:cs typeface="Calibri" pitchFamily="34" charset="-120"/>
              </a:rPr>
              <a:t>PNG ENCODING</a:t>
            </a:r>
            <a:endParaRPr lang="en-US" sz="1000" dirty="0"/>
          </a:p>
        </p:txBody>
      </p:sp>
      <p:sp>
        <p:nvSpPr>
          <p:cNvPr id="10" name="Shape 8"/>
          <p:cNvSpPr/>
          <p:nvPr/>
        </p:nvSpPr>
        <p:spPr>
          <a:xfrm>
            <a:off x="1097280" y="3657600"/>
            <a:ext cx="137160" cy="137160"/>
          </a:xfrm>
          <a:prstGeom prst="rect">
            <a:avLst>
              <a:gd name="adj" fmla="val 13333"/>
            </a:avLst>
          </a:prstGeom>
          <a:solidFill>
            <a:srgbClr val="EF4444"/>
          </a:solidFill>
          <a:ln/>
        </p:spPr>
      </p:sp>
      <p:sp>
        <p:nvSpPr>
          <p:cNvPr id="11" name="Text 9"/>
          <p:cNvSpPr/>
          <p:nvPr/>
        </p:nvSpPr>
        <p:spPr>
          <a:xfrm>
            <a:off x="1371600" y="3639312"/>
            <a:ext cx="1371600" cy="182880"/>
          </a:xfrm>
          <a:prstGeom prst="rect">
            <a:avLst/>
          </a:prstGeom>
          <a:noFill/>
          <a:ln/>
        </p:spPr>
        <p:txBody>
          <a:bodyPr wrap="square" lIns="0" tIns="0" rIns="0" bIns="0" rtlCol="0" anchor="ctr"/>
          <a:lstStyle/>
          <a:p>
            <a:pPr indent="0" marL="0">
              <a:buNone/>
            </a:pPr>
            <a:r>
              <a:rPr lang="en-US" sz="1000" b="1" dirty="0">
                <a:solidFill>
                  <a:srgbClr val="E2E8F0"/>
                </a:solidFill>
                <a:latin typeface="Calibri" pitchFamily="34" charset="0"/>
                <a:ea typeface="Calibri" pitchFamily="34" charset="-122"/>
                <a:cs typeface="Calibri" pitchFamily="34" charset="-120"/>
              </a:rPr>
              <a:t>Red Channel</a:t>
            </a:r>
            <a:endParaRPr lang="en-US" sz="1000" dirty="0"/>
          </a:p>
        </p:txBody>
      </p:sp>
      <p:sp>
        <p:nvSpPr>
          <p:cNvPr id="12" name="Text 10"/>
          <p:cNvSpPr/>
          <p:nvPr/>
        </p:nvSpPr>
        <p:spPr>
          <a:xfrm>
            <a:off x="2926080" y="3639312"/>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 component</a:t>
            </a:r>
            <a:endParaRPr lang="en-US" sz="1000" dirty="0"/>
          </a:p>
        </p:txBody>
      </p:sp>
      <p:sp>
        <p:nvSpPr>
          <p:cNvPr id="13" name="Text 11"/>
          <p:cNvSpPr/>
          <p:nvPr/>
        </p:nvSpPr>
        <p:spPr>
          <a:xfrm>
            <a:off x="5029200" y="3639312"/>
            <a:ext cx="3200400" cy="18288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[-max, +max] mapped to [0, 255]</a:t>
            </a:r>
            <a:endParaRPr lang="en-US" sz="900" dirty="0"/>
          </a:p>
        </p:txBody>
      </p:sp>
      <p:sp>
        <p:nvSpPr>
          <p:cNvPr id="14" name="Shape 12"/>
          <p:cNvSpPr/>
          <p:nvPr/>
        </p:nvSpPr>
        <p:spPr>
          <a:xfrm>
            <a:off x="1097280" y="3977640"/>
            <a:ext cx="137160" cy="137160"/>
          </a:xfrm>
          <a:prstGeom prst="rect">
            <a:avLst>
              <a:gd name="adj" fmla="val 13333"/>
            </a:avLst>
          </a:prstGeom>
          <a:solidFill>
            <a:srgbClr val="76B900"/>
          </a:solidFill>
          <a:ln/>
        </p:spPr>
      </p:sp>
      <p:sp>
        <p:nvSpPr>
          <p:cNvPr id="15" name="Text 13"/>
          <p:cNvSpPr/>
          <p:nvPr/>
        </p:nvSpPr>
        <p:spPr>
          <a:xfrm>
            <a:off x="1371600" y="3959352"/>
            <a:ext cx="1371600" cy="182880"/>
          </a:xfrm>
          <a:prstGeom prst="rect">
            <a:avLst/>
          </a:prstGeom>
          <a:noFill/>
          <a:ln/>
        </p:spPr>
        <p:txBody>
          <a:bodyPr wrap="square" lIns="0" tIns="0" rIns="0" bIns="0" rtlCol="0" anchor="ctr"/>
          <a:lstStyle/>
          <a:p>
            <a:pPr indent="0" marL="0">
              <a:buNone/>
            </a:pPr>
            <a:r>
              <a:rPr lang="en-US" sz="1000" b="1" dirty="0">
                <a:solidFill>
                  <a:srgbClr val="E2E8F0"/>
                </a:solidFill>
                <a:latin typeface="Calibri" pitchFamily="34" charset="0"/>
                <a:ea typeface="Calibri" pitchFamily="34" charset="-122"/>
                <a:cs typeface="Calibri" pitchFamily="34" charset="-120"/>
              </a:rPr>
              <a:t>Green Channel</a:t>
            </a:r>
            <a:endParaRPr lang="en-US" sz="1000" dirty="0"/>
          </a:p>
        </p:txBody>
      </p:sp>
      <p:sp>
        <p:nvSpPr>
          <p:cNvPr id="16" name="Text 14"/>
          <p:cNvSpPr/>
          <p:nvPr/>
        </p:nvSpPr>
        <p:spPr>
          <a:xfrm>
            <a:off x="2926080" y="3959352"/>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V component</a:t>
            </a:r>
            <a:endParaRPr lang="en-US" sz="1000" dirty="0"/>
          </a:p>
        </p:txBody>
      </p:sp>
      <p:sp>
        <p:nvSpPr>
          <p:cNvPr id="17" name="Text 15"/>
          <p:cNvSpPr/>
          <p:nvPr/>
        </p:nvSpPr>
        <p:spPr>
          <a:xfrm>
            <a:off x="5029200" y="3959352"/>
            <a:ext cx="3200400" cy="18288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[-max, +max] mapped to [0, 255]</a:t>
            </a:r>
            <a:endParaRPr lang="en-US" sz="900" dirty="0"/>
          </a:p>
        </p:txBody>
      </p:sp>
      <p:sp>
        <p:nvSpPr>
          <p:cNvPr id="18" name="Shape 16"/>
          <p:cNvSpPr/>
          <p:nvPr/>
        </p:nvSpPr>
        <p:spPr>
          <a:xfrm>
            <a:off x="1097280" y="4297680"/>
            <a:ext cx="137160" cy="137160"/>
          </a:xfrm>
          <a:prstGeom prst="rect">
            <a:avLst>
              <a:gd name="adj" fmla="val 13333"/>
            </a:avLst>
          </a:prstGeom>
          <a:solidFill>
            <a:srgbClr val="3B82F6"/>
          </a:solidFill>
          <a:ln/>
        </p:spPr>
      </p:sp>
      <p:sp>
        <p:nvSpPr>
          <p:cNvPr id="19" name="Text 17"/>
          <p:cNvSpPr/>
          <p:nvPr/>
        </p:nvSpPr>
        <p:spPr>
          <a:xfrm>
            <a:off x="1371600" y="4279392"/>
            <a:ext cx="1371600" cy="182880"/>
          </a:xfrm>
          <a:prstGeom prst="rect">
            <a:avLst/>
          </a:prstGeom>
          <a:noFill/>
          <a:ln/>
        </p:spPr>
        <p:txBody>
          <a:bodyPr wrap="square" lIns="0" tIns="0" rIns="0" bIns="0" rtlCol="0" anchor="ctr"/>
          <a:lstStyle/>
          <a:p>
            <a:pPr indent="0" marL="0">
              <a:buNone/>
            </a:pPr>
            <a:r>
              <a:rPr lang="en-US" sz="1000" b="1" dirty="0">
                <a:solidFill>
                  <a:srgbClr val="E2E8F0"/>
                </a:solidFill>
                <a:latin typeface="Calibri" pitchFamily="34" charset="0"/>
                <a:ea typeface="Calibri" pitchFamily="34" charset="-122"/>
                <a:cs typeface="Calibri" pitchFamily="34" charset="-120"/>
              </a:rPr>
              <a:t>Blue Channel</a:t>
            </a:r>
            <a:endParaRPr lang="en-US" sz="1000" dirty="0"/>
          </a:p>
        </p:txBody>
      </p:sp>
      <p:sp>
        <p:nvSpPr>
          <p:cNvPr id="20" name="Text 18"/>
          <p:cNvSpPr/>
          <p:nvPr/>
        </p:nvSpPr>
        <p:spPr>
          <a:xfrm>
            <a:off x="2926080" y="4279392"/>
            <a:ext cx="1828800" cy="1828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Magnitude</a:t>
            </a:r>
            <a:endParaRPr lang="en-US" sz="1000" dirty="0"/>
          </a:p>
        </p:txBody>
      </p:sp>
      <p:sp>
        <p:nvSpPr>
          <p:cNvPr id="21" name="Text 19"/>
          <p:cNvSpPr/>
          <p:nvPr/>
        </p:nvSpPr>
        <p:spPr>
          <a:xfrm>
            <a:off x="5029200" y="4279392"/>
            <a:ext cx="3200400" cy="18288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[0, max] mapped to [0, 255]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6B900"/>
          </a:solidFill>
          <a:ln/>
        </p:spPr>
      </p:sp>
      <p:sp>
        <p:nvSpPr>
          <p:cNvPr id="3" name="Text 1"/>
          <p:cNvSpPr/>
          <p:nvPr/>
        </p:nvSpPr>
        <p:spPr>
          <a:xfrm>
            <a:off x="731520" y="365760"/>
            <a:ext cx="7315200" cy="457200"/>
          </a:xfrm>
          <a:prstGeom prst="rect">
            <a:avLst/>
          </a:prstGeom>
          <a:noFill/>
          <a:ln/>
        </p:spPr>
        <p:txBody>
          <a:bodyPr wrap="square" lIns="0" tIns="0" rIns="0" bIns="0" rtlCol="0" anchor="ctr"/>
          <a:lstStyle/>
          <a:p>
            <a:pPr indent="0" marL="0">
              <a:buNone/>
            </a:pPr>
            <a:r>
              <a:rPr lang="en-US" sz="1100" spc="400" kern="0" dirty="0">
                <a:solidFill>
                  <a:srgbClr val="76B900"/>
                </a:solidFill>
                <a:latin typeface="Calibri" pitchFamily="34" charset="0"/>
                <a:ea typeface="Calibri" pitchFamily="34" charset="-122"/>
                <a:cs typeface="Calibri" pitchFamily="34" charset="-120"/>
              </a:rPr>
              <a:t>NVIDIA WebGPU</a:t>
            </a:r>
            <a:endParaRPr lang="en-US" sz="1100" dirty="0"/>
          </a:p>
        </p:txBody>
      </p:sp>
      <p:sp>
        <p:nvSpPr>
          <p:cNvPr id="4" name="Text 2"/>
          <p:cNvSpPr/>
          <p:nvPr/>
        </p:nvSpPr>
        <p:spPr>
          <a:xfrm>
            <a:off x="731520" y="777240"/>
            <a:ext cx="8229600" cy="548640"/>
          </a:xfrm>
          <a:prstGeom prst="rect">
            <a:avLst/>
          </a:prstGeom>
          <a:noFill/>
          <a:ln/>
        </p:spPr>
        <p:txBody>
          <a:bodyPr wrap="square" lIns="0" tIns="0" rIns="0" bIns="0" rtlCol="0" anchor="ctr"/>
          <a:lstStyle/>
          <a:p>
            <a:pPr indent="0" marL="0">
              <a:buNone/>
            </a:pPr>
            <a:r>
              <a:rPr lang="en-US" sz="3000" dirty="0">
                <a:solidFill>
                  <a:srgbClr val="E2E8F0"/>
                </a:solidFill>
                <a:latin typeface="Arial Black" pitchFamily="34" charset="0"/>
                <a:ea typeface="Arial Black" pitchFamily="34" charset="-122"/>
                <a:cs typeface="Arial Black" pitchFamily="34" charset="-120"/>
              </a:rPr>
              <a:t>4-Pass GPU Rendering Pipeline</a:t>
            </a:r>
            <a:endParaRPr lang="en-US" sz="3000" dirty="0"/>
          </a:p>
        </p:txBody>
      </p:sp>
      <p:sp>
        <p:nvSpPr>
          <p:cNvPr id="5" name="Shape 3"/>
          <p:cNvSpPr/>
          <p:nvPr/>
        </p:nvSpPr>
        <p:spPr>
          <a:xfrm>
            <a:off x="457200" y="1554480"/>
            <a:ext cx="1965960" cy="2926080"/>
          </a:xfrm>
          <a:prstGeom prst="rect">
            <a:avLst>
              <a:gd name="adj" fmla="val 3721"/>
            </a:avLst>
          </a:prstGeom>
          <a:solidFill>
            <a:srgbClr val="1A2236"/>
          </a:solidFill>
          <a:ln/>
        </p:spPr>
      </p:sp>
      <p:sp>
        <p:nvSpPr>
          <p:cNvPr id="6" name="Shape 4"/>
          <p:cNvSpPr/>
          <p:nvPr/>
        </p:nvSpPr>
        <p:spPr>
          <a:xfrm>
            <a:off x="457200" y="1554480"/>
            <a:ext cx="1965960" cy="365760"/>
          </a:xfrm>
          <a:prstGeom prst="rect">
            <a:avLst>
              <a:gd name="adj" fmla="val 20000"/>
            </a:avLst>
          </a:prstGeom>
          <a:solidFill>
            <a:srgbClr val="76B900"/>
          </a:solidFill>
          <a:ln/>
        </p:spPr>
      </p:sp>
      <p:sp>
        <p:nvSpPr>
          <p:cNvPr id="7" name="Text 5"/>
          <p:cNvSpPr/>
          <p:nvPr/>
        </p:nvSpPr>
        <p:spPr>
          <a:xfrm>
            <a:off x="548640" y="1572768"/>
            <a:ext cx="1783080" cy="329184"/>
          </a:xfrm>
          <a:prstGeom prst="rect">
            <a:avLst/>
          </a:prstGeom>
          <a:noFill/>
          <a:ln/>
        </p:spPr>
        <p:txBody>
          <a:bodyPr wrap="square" lIns="0" tIns="0" rIns="0" bIns="0" rtlCol="0" anchor="ctr"/>
          <a:lstStyle/>
          <a:p>
            <a:pPr algn="ctr" indent="0" marL="0">
              <a:buNone/>
            </a:pPr>
            <a:r>
              <a:rPr lang="en-US" sz="1000" b="1" spc="100" kern="0" dirty="0">
                <a:solidFill>
                  <a:srgbClr val="76B900"/>
                </a:solidFill>
                <a:latin typeface="Calibri" pitchFamily="34" charset="0"/>
                <a:ea typeface="Calibri" pitchFamily="34" charset="-122"/>
                <a:cs typeface="Calibri" pitchFamily="34" charset="-120"/>
              </a:rPr>
              <a:t>PASS 1: COMPUTE</a:t>
            </a:r>
            <a:endParaRPr lang="en-US" sz="1000" dirty="0"/>
          </a:p>
        </p:txBody>
      </p:sp>
      <p:sp>
        <p:nvSpPr>
          <p:cNvPr id="8" name="Text 6"/>
          <p:cNvSpPr/>
          <p:nvPr/>
        </p:nvSpPr>
        <p:spPr>
          <a:xfrm>
            <a:off x="594360" y="2103120"/>
            <a:ext cx="1691640" cy="2103120"/>
          </a:xfrm>
          <a:prstGeom prst="rect">
            <a:avLst/>
          </a:prstGeom>
          <a:noFill/>
          <a:ln/>
        </p:spPr>
        <p:txBody>
          <a:bodyPr wrap="square" lIns="0" tIns="0" rIns="0" bIns="0" rtlCol="0" anchor="ctr"/>
          <a:lstStyle/>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Advect 500K particles</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textureLoad() wind sampling</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Ping-pong storage buffers</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7,813 workgroups</a:t>
            </a:r>
            <a:endParaRPr lang="en-US" sz="1000" dirty="0"/>
          </a:p>
        </p:txBody>
      </p:sp>
      <p:sp>
        <p:nvSpPr>
          <p:cNvPr id="9" name="Text 7"/>
          <p:cNvSpPr/>
          <p:nvPr/>
        </p:nvSpPr>
        <p:spPr>
          <a:xfrm>
            <a:off x="2423160" y="2743200"/>
            <a:ext cx="182880" cy="365760"/>
          </a:xfrm>
          <a:prstGeom prst="rect">
            <a:avLst/>
          </a:prstGeom>
          <a:noFill/>
          <a:ln/>
        </p:spPr>
        <p:txBody>
          <a:bodyPr wrap="square" lIns="0" tIns="0" rIns="0" bIns="0" rtlCol="0" anchor="ctr"/>
          <a:lstStyle/>
          <a:p>
            <a:pPr algn="ctr" indent="0" marL="0">
              <a:buNone/>
            </a:pPr>
            <a:r>
              <a:rPr lang="en-US" sz="1600" dirty="0">
                <a:solidFill>
                  <a:srgbClr val="76B900"/>
                </a:solidFill>
                <a:latin typeface="Arial" pitchFamily="34" charset="0"/>
                <a:ea typeface="Arial" pitchFamily="34" charset="-122"/>
                <a:cs typeface="Arial" pitchFamily="34" charset="-120"/>
              </a:rPr>
              <a:t>&gt;</a:t>
            </a:r>
            <a:endParaRPr lang="en-US" sz="1600" dirty="0"/>
          </a:p>
        </p:txBody>
      </p:sp>
      <p:sp>
        <p:nvSpPr>
          <p:cNvPr id="10" name="Shape 8"/>
          <p:cNvSpPr/>
          <p:nvPr/>
        </p:nvSpPr>
        <p:spPr>
          <a:xfrm>
            <a:off x="2606040" y="1554480"/>
            <a:ext cx="1965960" cy="2926080"/>
          </a:xfrm>
          <a:prstGeom prst="rect">
            <a:avLst>
              <a:gd name="adj" fmla="val 3721"/>
            </a:avLst>
          </a:prstGeom>
          <a:solidFill>
            <a:srgbClr val="1A2236"/>
          </a:solidFill>
          <a:ln/>
        </p:spPr>
      </p:sp>
      <p:sp>
        <p:nvSpPr>
          <p:cNvPr id="11" name="Shape 9"/>
          <p:cNvSpPr/>
          <p:nvPr/>
        </p:nvSpPr>
        <p:spPr>
          <a:xfrm>
            <a:off x="2606040" y="1554480"/>
            <a:ext cx="1965960" cy="365760"/>
          </a:xfrm>
          <a:prstGeom prst="rect">
            <a:avLst>
              <a:gd name="adj" fmla="val 20000"/>
            </a:avLst>
          </a:prstGeom>
          <a:solidFill>
            <a:srgbClr val="76B900"/>
          </a:solidFill>
          <a:ln/>
        </p:spPr>
      </p:sp>
      <p:sp>
        <p:nvSpPr>
          <p:cNvPr id="12" name="Text 10"/>
          <p:cNvSpPr/>
          <p:nvPr/>
        </p:nvSpPr>
        <p:spPr>
          <a:xfrm>
            <a:off x="2697480" y="1572768"/>
            <a:ext cx="1783080" cy="329184"/>
          </a:xfrm>
          <a:prstGeom prst="rect">
            <a:avLst/>
          </a:prstGeom>
          <a:noFill/>
          <a:ln/>
        </p:spPr>
        <p:txBody>
          <a:bodyPr wrap="square" lIns="0" tIns="0" rIns="0" bIns="0" rtlCol="0" anchor="ctr"/>
          <a:lstStyle/>
          <a:p>
            <a:pPr algn="ctr" indent="0" marL="0">
              <a:buNone/>
            </a:pPr>
            <a:r>
              <a:rPr lang="en-US" sz="1000" b="1" spc="100" kern="0" dirty="0">
                <a:solidFill>
                  <a:srgbClr val="76B900"/>
                </a:solidFill>
                <a:latin typeface="Calibri" pitchFamily="34" charset="0"/>
                <a:ea typeface="Calibri" pitchFamily="34" charset="-122"/>
                <a:cs typeface="Calibri" pitchFamily="34" charset="-120"/>
              </a:rPr>
              <a:t>PASS 2: FADE</a:t>
            </a:r>
            <a:endParaRPr lang="en-US" sz="1000" dirty="0"/>
          </a:p>
        </p:txBody>
      </p:sp>
      <p:sp>
        <p:nvSpPr>
          <p:cNvPr id="13" name="Text 11"/>
          <p:cNvSpPr/>
          <p:nvPr/>
        </p:nvSpPr>
        <p:spPr>
          <a:xfrm>
            <a:off x="2743200" y="2103120"/>
            <a:ext cx="1691640" cy="2103120"/>
          </a:xfrm>
          <a:prstGeom prst="rect">
            <a:avLst/>
          </a:prstGeom>
          <a:noFill/>
          <a:ln/>
        </p:spPr>
        <p:txBody>
          <a:bodyPr wrap="square" lIns="0" tIns="0" rIns="0" bIns="0" rtlCol="0" anchor="ctr"/>
          <a:lstStyle/>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Trail effect via</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ping-pong render targets</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Configurable opacity</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Smooth flowing trails</a:t>
            </a:r>
            <a:endParaRPr lang="en-US" sz="1000" dirty="0"/>
          </a:p>
        </p:txBody>
      </p:sp>
      <p:sp>
        <p:nvSpPr>
          <p:cNvPr id="14" name="Text 12"/>
          <p:cNvSpPr/>
          <p:nvPr/>
        </p:nvSpPr>
        <p:spPr>
          <a:xfrm>
            <a:off x="4572000" y="2743200"/>
            <a:ext cx="182880" cy="365760"/>
          </a:xfrm>
          <a:prstGeom prst="rect">
            <a:avLst/>
          </a:prstGeom>
          <a:noFill/>
          <a:ln/>
        </p:spPr>
        <p:txBody>
          <a:bodyPr wrap="square" lIns="0" tIns="0" rIns="0" bIns="0" rtlCol="0" anchor="ctr"/>
          <a:lstStyle/>
          <a:p>
            <a:pPr algn="ctr" indent="0" marL="0">
              <a:buNone/>
            </a:pPr>
            <a:r>
              <a:rPr lang="en-US" sz="1600" dirty="0">
                <a:solidFill>
                  <a:srgbClr val="76B900"/>
                </a:solidFill>
                <a:latin typeface="Arial" pitchFamily="34" charset="0"/>
                <a:ea typeface="Arial" pitchFamily="34" charset="-122"/>
                <a:cs typeface="Arial" pitchFamily="34" charset="-120"/>
              </a:rPr>
              <a:t>&gt;</a:t>
            </a:r>
            <a:endParaRPr lang="en-US" sz="1600" dirty="0"/>
          </a:p>
        </p:txBody>
      </p:sp>
      <p:sp>
        <p:nvSpPr>
          <p:cNvPr id="15" name="Shape 13"/>
          <p:cNvSpPr/>
          <p:nvPr/>
        </p:nvSpPr>
        <p:spPr>
          <a:xfrm>
            <a:off x="4754880" y="1554480"/>
            <a:ext cx="1965960" cy="2926080"/>
          </a:xfrm>
          <a:prstGeom prst="rect">
            <a:avLst>
              <a:gd name="adj" fmla="val 3721"/>
            </a:avLst>
          </a:prstGeom>
          <a:solidFill>
            <a:srgbClr val="1A2236"/>
          </a:solidFill>
          <a:ln/>
        </p:spPr>
      </p:sp>
      <p:sp>
        <p:nvSpPr>
          <p:cNvPr id="16" name="Shape 14"/>
          <p:cNvSpPr/>
          <p:nvPr/>
        </p:nvSpPr>
        <p:spPr>
          <a:xfrm>
            <a:off x="4754880" y="1554480"/>
            <a:ext cx="1965960" cy="365760"/>
          </a:xfrm>
          <a:prstGeom prst="rect">
            <a:avLst>
              <a:gd name="adj" fmla="val 20000"/>
            </a:avLst>
          </a:prstGeom>
          <a:solidFill>
            <a:srgbClr val="76B900"/>
          </a:solidFill>
          <a:ln/>
        </p:spPr>
      </p:sp>
      <p:sp>
        <p:nvSpPr>
          <p:cNvPr id="17" name="Text 15"/>
          <p:cNvSpPr/>
          <p:nvPr/>
        </p:nvSpPr>
        <p:spPr>
          <a:xfrm>
            <a:off x="4846320" y="1572768"/>
            <a:ext cx="1783080" cy="329184"/>
          </a:xfrm>
          <a:prstGeom prst="rect">
            <a:avLst/>
          </a:prstGeom>
          <a:noFill/>
          <a:ln/>
        </p:spPr>
        <p:txBody>
          <a:bodyPr wrap="square" lIns="0" tIns="0" rIns="0" bIns="0" rtlCol="0" anchor="ctr"/>
          <a:lstStyle/>
          <a:p>
            <a:pPr algn="ctr" indent="0" marL="0">
              <a:buNone/>
            </a:pPr>
            <a:r>
              <a:rPr lang="en-US" sz="1000" b="1" spc="100" kern="0" dirty="0">
                <a:solidFill>
                  <a:srgbClr val="76B900"/>
                </a:solidFill>
                <a:latin typeface="Calibri" pitchFamily="34" charset="0"/>
                <a:ea typeface="Calibri" pitchFamily="34" charset="-122"/>
                <a:cs typeface="Calibri" pitchFamily="34" charset="-120"/>
              </a:rPr>
              <a:t>PASS 3: RENDER</a:t>
            </a:r>
            <a:endParaRPr lang="en-US" sz="1000" dirty="0"/>
          </a:p>
        </p:txBody>
      </p:sp>
      <p:sp>
        <p:nvSpPr>
          <p:cNvPr id="18" name="Text 16"/>
          <p:cNvSpPr/>
          <p:nvPr/>
        </p:nvSpPr>
        <p:spPr>
          <a:xfrm>
            <a:off x="4892040" y="2103120"/>
            <a:ext cx="1691640" cy="2103120"/>
          </a:xfrm>
          <a:prstGeom prst="rect">
            <a:avLst/>
          </a:prstGeom>
          <a:noFill/>
          <a:ln/>
        </p:spPr>
        <p:txBody>
          <a:bodyPr wrap="square" lIns="0" tIns="0" rIns="0" bIns="0" rtlCol="0" anchor="ctr"/>
          <a:lstStyle/>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Instanced quads (3M verts)</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SDF circular glow</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Additive blending</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Per-species color ramps</a:t>
            </a:r>
            <a:endParaRPr lang="en-US" sz="1000" dirty="0"/>
          </a:p>
        </p:txBody>
      </p:sp>
      <p:sp>
        <p:nvSpPr>
          <p:cNvPr id="19" name="Text 17"/>
          <p:cNvSpPr/>
          <p:nvPr/>
        </p:nvSpPr>
        <p:spPr>
          <a:xfrm>
            <a:off x="6720840" y="2743200"/>
            <a:ext cx="182880" cy="365760"/>
          </a:xfrm>
          <a:prstGeom prst="rect">
            <a:avLst/>
          </a:prstGeom>
          <a:noFill/>
          <a:ln/>
        </p:spPr>
        <p:txBody>
          <a:bodyPr wrap="square" lIns="0" tIns="0" rIns="0" bIns="0" rtlCol="0" anchor="ctr"/>
          <a:lstStyle/>
          <a:p>
            <a:pPr algn="ctr" indent="0" marL="0">
              <a:buNone/>
            </a:pPr>
            <a:r>
              <a:rPr lang="en-US" sz="1600" dirty="0">
                <a:solidFill>
                  <a:srgbClr val="76B900"/>
                </a:solidFill>
                <a:latin typeface="Arial" pitchFamily="34" charset="0"/>
                <a:ea typeface="Arial" pitchFamily="34" charset="-122"/>
                <a:cs typeface="Arial" pitchFamily="34" charset="-120"/>
              </a:rPr>
              <a:t>&gt;</a:t>
            </a:r>
            <a:endParaRPr lang="en-US" sz="1600" dirty="0"/>
          </a:p>
        </p:txBody>
      </p:sp>
      <p:sp>
        <p:nvSpPr>
          <p:cNvPr id="20" name="Shape 18"/>
          <p:cNvSpPr/>
          <p:nvPr/>
        </p:nvSpPr>
        <p:spPr>
          <a:xfrm>
            <a:off x="6903720" y="1554480"/>
            <a:ext cx="1965960" cy="2926080"/>
          </a:xfrm>
          <a:prstGeom prst="rect">
            <a:avLst>
              <a:gd name="adj" fmla="val 3721"/>
            </a:avLst>
          </a:prstGeom>
          <a:solidFill>
            <a:srgbClr val="1A2236"/>
          </a:solidFill>
          <a:ln/>
        </p:spPr>
      </p:sp>
      <p:sp>
        <p:nvSpPr>
          <p:cNvPr id="21" name="Shape 19"/>
          <p:cNvSpPr/>
          <p:nvPr/>
        </p:nvSpPr>
        <p:spPr>
          <a:xfrm>
            <a:off x="6903720" y="1554480"/>
            <a:ext cx="1965960" cy="365760"/>
          </a:xfrm>
          <a:prstGeom prst="rect">
            <a:avLst>
              <a:gd name="adj" fmla="val 20000"/>
            </a:avLst>
          </a:prstGeom>
          <a:solidFill>
            <a:srgbClr val="76B900"/>
          </a:solidFill>
          <a:ln/>
        </p:spPr>
      </p:sp>
      <p:sp>
        <p:nvSpPr>
          <p:cNvPr id="22" name="Text 20"/>
          <p:cNvSpPr/>
          <p:nvPr/>
        </p:nvSpPr>
        <p:spPr>
          <a:xfrm>
            <a:off x="6995160" y="1572768"/>
            <a:ext cx="1783080" cy="329184"/>
          </a:xfrm>
          <a:prstGeom prst="rect">
            <a:avLst/>
          </a:prstGeom>
          <a:noFill/>
          <a:ln/>
        </p:spPr>
        <p:txBody>
          <a:bodyPr wrap="square" lIns="0" tIns="0" rIns="0" bIns="0" rtlCol="0" anchor="ctr"/>
          <a:lstStyle/>
          <a:p>
            <a:pPr algn="ctr" indent="0" marL="0">
              <a:buNone/>
            </a:pPr>
            <a:r>
              <a:rPr lang="en-US" sz="1000" b="1" spc="100" kern="0" dirty="0">
                <a:solidFill>
                  <a:srgbClr val="76B900"/>
                </a:solidFill>
                <a:latin typeface="Calibri" pitchFamily="34" charset="0"/>
                <a:ea typeface="Calibri" pitchFamily="34" charset="-122"/>
                <a:cs typeface="Calibri" pitchFamily="34" charset="-120"/>
              </a:rPr>
              <a:t>PASS 4: SCREEN</a:t>
            </a:r>
            <a:endParaRPr lang="en-US" sz="1000" dirty="0"/>
          </a:p>
        </p:txBody>
      </p:sp>
      <p:sp>
        <p:nvSpPr>
          <p:cNvPr id="23" name="Text 21"/>
          <p:cNvSpPr/>
          <p:nvPr/>
        </p:nvSpPr>
        <p:spPr>
          <a:xfrm>
            <a:off x="7040880" y="2103120"/>
            <a:ext cx="1691640" cy="2103120"/>
          </a:xfrm>
          <a:prstGeom prst="rect">
            <a:avLst/>
          </a:prstGeom>
          <a:noFill/>
          <a:ln/>
        </p:spPr>
        <p:txBody>
          <a:bodyPr wrap="square" lIns="0" tIns="0" rIns="0" bIns="0" rtlCol="0" anchor="ctr"/>
          <a:lstStyle/>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Copy to swapchain</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Premultiplied alpha</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Transparent overlay</a:t>
            </a:r>
            <a:endParaRPr lang="en-US" sz="1000" dirty="0"/>
          </a:p>
          <a:p>
            <a:pPr indent="0" marL="0">
              <a:lnSpc>
                <a:spcPct val="150000"/>
              </a:lnSpc>
              <a:buNone/>
            </a:pPr>
            <a:r>
              <a:rPr lang="en-US" sz="1000" dirty="0">
                <a:solidFill>
                  <a:srgbClr val="94A3B8"/>
                </a:solidFill>
                <a:latin typeface="Calibri" pitchFamily="34" charset="0"/>
                <a:ea typeface="Calibri" pitchFamily="34" charset="-122"/>
                <a:cs typeface="Calibri" pitchFamily="34" charset="-120"/>
              </a:rPr>
              <a:t>CSS z-index compositing</a:t>
            </a:r>
            <a:endParaRPr lang="en-US" sz="1000" dirty="0"/>
          </a:p>
        </p:txBody>
      </p:sp>
      <p:sp>
        <p:nvSpPr>
          <p:cNvPr id="24" name="Shape 22"/>
          <p:cNvSpPr/>
          <p:nvPr/>
        </p:nvSpPr>
        <p:spPr>
          <a:xfrm>
            <a:off x="457200" y="4617720"/>
            <a:ext cx="8229600" cy="365760"/>
          </a:xfrm>
          <a:prstGeom prst="rect">
            <a:avLst>
              <a:gd name="adj" fmla="val 15000"/>
            </a:avLst>
          </a:prstGeom>
          <a:solidFill>
            <a:srgbClr val="1A2236"/>
          </a:solidFill>
          <a:ln/>
        </p:spPr>
      </p:sp>
      <p:sp>
        <p:nvSpPr>
          <p:cNvPr id="25" name="Text 23"/>
          <p:cNvSpPr/>
          <p:nvPr/>
        </p:nvSpPr>
        <p:spPr>
          <a:xfrm>
            <a:off x="640080" y="4636008"/>
            <a:ext cx="2743200" cy="329184"/>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Canvas 2D: ~8,000 particles</a:t>
            </a:r>
            <a:endParaRPr lang="en-US" sz="1000" dirty="0"/>
          </a:p>
        </p:txBody>
      </p:sp>
      <p:sp>
        <p:nvSpPr>
          <p:cNvPr id="26" name="Text 24"/>
          <p:cNvSpPr/>
          <p:nvPr/>
        </p:nvSpPr>
        <p:spPr>
          <a:xfrm>
            <a:off x="3657600" y="4636008"/>
            <a:ext cx="3200400" cy="329184"/>
          </a:xfrm>
          <a:prstGeom prst="rect">
            <a:avLst/>
          </a:prstGeom>
          <a:noFill/>
          <a:ln/>
        </p:spPr>
        <p:txBody>
          <a:bodyPr wrap="square" lIns="0" tIns="0" rIns="0" bIns="0" rtlCol="0" anchor="ctr"/>
          <a:lstStyle/>
          <a:p>
            <a:pPr indent="0" marL="0">
              <a:buNone/>
            </a:pPr>
            <a:r>
              <a:rPr lang="en-US" sz="1000" b="1" dirty="0">
                <a:solidFill>
                  <a:srgbClr val="76B900"/>
                </a:solidFill>
                <a:latin typeface="Calibri" pitchFamily="34" charset="0"/>
                <a:ea typeface="Calibri" pitchFamily="34" charset="-122"/>
                <a:cs typeface="Calibri" pitchFamily="34" charset="-120"/>
              </a:rPr>
              <a:t>WebGPU Compute: 500,000 particles</a:t>
            </a:r>
            <a:endParaRPr lang="en-US" sz="1000" dirty="0"/>
          </a:p>
        </p:txBody>
      </p:sp>
      <p:sp>
        <p:nvSpPr>
          <p:cNvPr id="27" name="Text 25"/>
          <p:cNvSpPr/>
          <p:nvPr/>
        </p:nvSpPr>
        <p:spPr>
          <a:xfrm>
            <a:off x="7132320" y="4636008"/>
            <a:ext cx="1371600" cy="329184"/>
          </a:xfrm>
          <a:prstGeom prst="rect">
            <a:avLst/>
          </a:prstGeom>
          <a:noFill/>
          <a:ln/>
        </p:spPr>
        <p:txBody>
          <a:bodyPr wrap="square" lIns="0" tIns="0" rIns="0" bIns="0" rtlCol="0" anchor="ctr"/>
          <a:lstStyle/>
          <a:p>
            <a:pPr algn="r" indent="0" marL="0">
              <a:buNone/>
            </a:pPr>
            <a:r>
              <a:rPr lang="en-US" sz="1200" dirty="0">
                <a:solidFill>
                  <a:srgbClr val="76B900"/>
                </a:solidFill>
                <a:latin typeface="Arial Black" pitchFamily="34" charset="0"/>
                <a:ea typeface="Arial Black" pitchFamily="34" charset="-122"/>
                <a:cs typeface="Arial Black" pitchFamily="34" charset="-120"/>
              </a:rPr>
              <a:t>62x faster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p:spPr>
      </p:sp>
      <p:sp>
        <p:nvSpPr>
          <p:cNvPr id="3" name="Text 1"/>
          <p:cNvSpPr/>
          <p:nvPr/>
        </p:nvSpPr>
        <p:spPr>
          <a:xfrm>
            <a:off x="731520" y="274320"/>
            <a:ext cx="7315200" cy="457200"/>
          </a:xfrm>
          <a:prstGeom prst="rect">
            <a:avLst/>
          </a:prstGeom>
          <a:noFill/>
          <a:ln/>
        </p:spPr>
        <p:txBody>
          <a:bodyPr wrap="square" lIns="0" tIns="0" rIns="0" bIns="0" rtlCol="0" anchor="ctr"/>
          <a:lstStyle/>
          <a:p>
            <a:pPr indent="0" marL="0">
              <a:buNone/>
            </a:pPr>
            <a:r>
              <a:rPr lang="en-US" sz="1100" spc="400" kern="0" dirty="0">
                <a:solidFill>
                  <a:srgbClr val="00B4D8"/>
                </a:solidFill>
                <a:latin typeface="Calibri" pitchFamily="34" charset="0"/>
                <a:ea typeface="Calibri" pitchFamily="34" charset="-122"/>
                <a:cs typeface="Calibri" pitchFamily="34" charset="-120"/>
              </a:rPr>
              <a:t>SYSTEM ARCHITECTURE</a:t>
            </a:r>
            <a:endParaRPr lang="en-US" sz="1100" dirty="0"/>
          </a:p>
        </p:txBody>
      </p:sp>
      <p:pic>
        <p:nvPicPr>
          <p:cNvPr id="4" name="Image 0" descr="C:\Users\jhon9904\aerosols-globe\diagram.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4320" y="640080"/>
            <a:ext cx="8595360" cy="43891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p:spPr>
      </p:sp>
      <p:sp>
        <p:nvSpPr>
          <p:cNvPr id="3" name="Text 1"/>
          <p:cNvSpPr/>
          <p:nvPr/>
        </p:nvSpPr>
        <p:spPr>
          <a:xfrm>
            <a:off x="731520" y="365760"/>
            <a:ext cx="7315200" cy="457200"/>
          </a:xfrm>
          <a:prstGeom prst="rect">
            <a:avLst/>
          </a:prstGeom>
          <a:noFill/>
          <a:ln/>
        </p:spPr>
        <p:txBody>
          <a:bodyPr wrap="square" lIns="0" tIns="0" rIns="0" bIns="0" rtlCol="0" anchor="ctr"/>
          <a:lstStyle/>
          <a:p>
            <a:pPr indent="0" marL="0">
              <a:buNone/>
            </a:pPr>
            <a:r>
              <a:rPr lang="en-US" sz="1100" spc="400" kern="0" dirty="0">
                <a:solidFill>
                  <a:srgbClr val="00B4D8"/>
                </a:solidFill>
                <a:latin typeface="Calibri" pitchFamily="34" charset="0"/>
                <a:ea typeface="Calibri" pitchFamily="34" charset="-122"/>
                <a:cs typeface="Calibri" pitchFamily="34" charset="-120"/>
              </a:rPr>
              <a:t>INTERACTIVE FEATURES</a:t>
            </a:r>
            <a:endParaRPr lang="en-US" sz="1100" dirty="0"/>
          </a:p>
        </p:txBody>
      </p:sp>
      <p:sp>
        <p:nvSpPr>
          <p:cNvPr id="4" name="Text 2"/>
          <p:cNvSpPr/>
          <p:nvPr/>
        </p:nvSpPr>
        <p:spPr>
          <a:xfrm>
            <a:off x="731520" y="777240"/>
            <a:ext cx="7315200" cy="548640"/>
          </a:xfrm>
          <a:prstGeom prst="rect">
            <a:avLst/>
          </a:prstGeom>
          <a:noFill/>
          <a:ln/>
        </p:spPr>
        <p:txBody>
          <a:bodyPr wrap="square" lIns="0" tIns="0" rIns="0" bIns="0" rtlCol="0" anchor="ctr"/>
          <a:lstStyle/>
          <a:p>
            <a:pPr indent="0" marL="0">
              <a:buNone/>
            </a:pPr>
            <a:r>
              <a:rPr lang="en-US" sz="3200" dirty="0">
                <a:solidFill>
                  <a:srgbClr val="E2E8F0"/>
                </a:solidFill>
                <a:latin typeface="Arial Black" pitchFamily="34" charset="0"/>
                <a:ea typeface="Arial Black" pitchFamily="34" charset="-122"/>
                <a:cs typeface="Arial Black" pitchFamily="34" charset="-120"/>
              </a:rPr>
              <a:t>Live Demo</a:t>
            </a:r>
            <a:endParaRPr lang="en-US" sz="3200" dirty="0"/>
          </a:p>
        </p:txBody>
      </p:sp>
      <p:sp>
        <p:nvSpPr>
          <p:cNvPr id="5" name="Text 3"/>
          <p:cNvSpPr/>
          <p:nvPr/>
        </p:nvSpPr>
        <p:spPr>
          <a:xfrm>
            <a:off x="731520" y="1325880"/>
            <a:ext cx="7315200" cy="274320"/>
          </a:xfrm>
          <a:prstGeom prst="rect">
            <a:avLst/>
          </a:prstGeom>
          <a:noFill/>
          <a:ln/>
        </p:spPr>
        <p:txBody>
          <a:bodyPr wrap="square" lIns="0" tIns="0" rIns="0" bIns="0" rtlCol="0" anchor="ctr"/>
          <a:lstStyle/>
          <a:p>
            <a:pPr indent="0" marL="0">
              <a:buNone/>
            </a:pPr>
            <a:r>
              <a:rPr lang="en-US" sz="1400" dirty="0">
                <a:solidFill>
                  <a:srgbClr val="00B4D8"/>
                </a:solidFill>
                <a:latin typeface="Consolas" pitchFamily="34" charset="0"/>
                <a:ea typeface="Consolas" pitchFamily="34" charset="-122"/>
                <a:cs typeface="Consolas" pitchFamily="34" charset="-120"/>
              </a:rPr>
              <a:t>garridolecca.github.io/aerosols-globe</a:t>
            </a:r>
            <a:endParaRPr lang="en-US" sz="1400" dirty="0"/>
          </a:p>
        </p:txBody>
      </p:sp>
      <p:sp>
        <p:nvSpPr>
          <p:cNvPr id="6" name="Shape 4"/>
          <p:cNvSpPr/>
          <p:nvPr/>
        </p:nvSpPr>
        <p:spPr>
          <a:xfrm>
            <a:off x="731520" y="1920240"/>
            <a:ext cx="3749040" cy="1097280"/>
          </a:xfrm>
          <a:prstGeom prst="rect">
            <a:avLst>
              <a:gd name="adj" fmla="val 6667"/>
            </a:avLst>
          </a:prstGeom>
          <a:solidFill>
            <a:srgbClr val="1A2236"/>
          </a:solidFill>
          <a:ln/>
        </p:spPr>
      </p:sp>
      <p:sp>
        <p:nvSpPr>
          <p:cNvPr id="7" name="Shape 5"/>
          <p:cNvSpPr/>
          <p:nvPr/>
        </p:nvSpPr>
        <p:spPr>
          <a:xfrm>
            <a:off x="731520" y="1920240"/>
            <a:ext cx="54864" cy="1097280"/>
          </a:xfrm>
          <a:prstGeom prst="rect">
            <a:avLst>
              <a:gd name="adj" fmla="val 50000"/>
            </a:avLst>
          </a:prstGeom>
          <a:solidFill>
            <a:srgbClr val="8B5CF6"/>
          </a:solidFill>
          <a:ln/>
        </p:spPr>
      </p:sp>
      <p:sp>
        <p:nvSpPr>
          <p:cNvPr id="8" name="Text 6"/>
          <p:cNvSpPr/>
          <p:nvPr/>
        </p:nvSpPr>
        <p:spPr>
          <a:xfrm>
            <a:off x="960120" y="2029968"/>
            <a:ext cx="3291840" cy="274320"/>
          </a:xfrm>
          <a:prstGeom prst="rect">
            <a:avLst/>
          </a:prstGeom>
          <a:noFill/>
          <a:ln/>
        </p:spPr>
        <p:txBody>
          <a:bodyPr wrap="square" lIns="0" tIns="0" rIns="0" bIns="0" rtlCol="0" anchor="ctr"/>
          <a:lstStyle/>
          <a:p>
            <a:pPr indent="0" marL="0">
              <a:buNone/>
            </a:pPr>
            <a:r>
              <a:rPr lang="en-US" sz="1400" b="1" dirty="0">
                <a:solidFill>
                  <a:srgbClr val="E2E8F0"/>
                </a:solidFill>
                <a:latin typeface="Calibri" pitchFamily="34" charset="0"/>
                <a:ea typeface="Calibri" pitchFamily="34" charset="-122"/>
                <a:cs typeface="Calibri" pitchFamily="34" charset="-120"/>
              </a:rPr>
              <a:t>4 Aerosol Species</a:t>
            </a:r>
            <a:endParaRPr lang="en-US" sz="1400" dirty="0"/>
          </a:p>
        </p:txBody>
      </p:sp>
      <p:sp>
        <p:nvSpPr>
          <p:cNvPr id="9" name="Text 7"/>
          <p:cNvSpPr/>
          <p:nvPr/>
        </p:nvSpPr>
        <p:spPr>
          <a:xfrm>
            <a:off x="960120" y="2377440"/>
            <a:ext cx="3291840" cy="548640"/>
          </a:xfrm>
          <a:prstGeom prst="rect">
            <a:avLst/>
          </a:prstGeom>
          <a:noFill/>
          <a:ln/>
        </p:spPr>
        <p:txBody>
          <a:bodyPr wrap="square" lIns="0" tIns="0" rIns="0" bIns="0" rtlCol="0" anchor="ctr"/>
          <a:lstStyle/>
          <a:p>
            <a:pPr indent="0" marL="0">
              <a:lnSpc>
                <a:spcPct val="130000"/>
              </a:lnSpc>
              <a:buNone/>
            </a:pPr>
            <a:r>
              <a:rPr lang="en-US" sz="1000" dirty="0">
                <a:solidFill>
                  <a:srgbClr val="94A3B8"/>
                </a:solidFill>
                <a:latin typeface="Calibri" pitchFamily="34" charset="0"/>
                <a:ea typeface="Calibri" pitchFamily="34" charset="-122"/>
                <a:cs typeface="Calibri" pitchFamily="34" charset="-120"/>
              </a:rPr>
              <a:t>Toggle between Total, Black Carbon, Dust, and Sea Salt — each with distinct color ramp and transport pattern</a:t>
            </a:r>
            <a:endParaRPr lang="en-US" sz="1000" dirty="0"/>
          </a:p>
        </p:txBody>
      </p:sp>
      <p:sp>
        <p:nvSpPr>
          <p:cNvPr id="10" name="Shape 8"/>
          <p:cNvSpPr/>
          <p:nvPr/>
        </p:nvSpPr>
        <p:spPr>
          <a:xfrm>
            <a:off x="4754880" y="1920240"/>
            <a:ext cx="3749040" cy="1097280"/>
          </a:xfrm>
          <a:prstGeom prst="rect">
            <a:avLst>
              <a:gd name="adj" fmla="val 6667"/>
            </a:avLst>
          </a:prstGeom>
          <a:solidFill>
            <a:srgbClr val="1A2236"/>
          </a:solidFill>
          <a:ln/>
        </p:spPr>
      </p:sp>
      <p:sp>
        <p:nvSpPr>
          <p:cNvPr id="11" name="Shape 9"/>
          <p:cNvSpPr/>
          <p:nvPr/>
        </p:nvSpPr>
        <p:spPr>
          <a:xfrm>
            <a:off x="4754880" y="1920240"/>
            <a:ext cx="54864" cy="1097280"/>
          </a:xfrm>
          <a:prstGeom prst="rect">
            <a:avLst>
              <a:gd name="adj" fmla="val 50000"/>
            </a:avLst>
          </a:prstGeom>
          <a:solidFill>
            <a:srgbClr val="76B900"/>
          </a:solidFill>
          <a:ln/>
        </p:spPr>
      </p:sp>
      <p:sp>
        <p:nvSpPr>
          <p:cNvPr id="12" name="Text 10"/>
          <p:cNvSpPr/>
          <p:nvPr/>
        </p:nvSpPr>
        <p:spPr>
          <a:xfrm>
            <a:off x="4983480" y="2029968"/>
            <a:ext cx="3291840" cy="274320"/>
          </a:xfrm>
          <a:prstGeom prst="rect">
            <a:avLst/>
          </a:prstGeom>
          <a:noFill/>
          <a:ln/>
        </p:spPr>
        <p:txBody>
          <a:bodyPr wrap="square" lIns="0" tIns="0" rIns="0" bIns="0" rtlCol="0" anchor="ctr"/>
          <a:lstStyle/>
          <a:p>
            <a:pPr indent="0" marL="0">
              <a:buNone/>
            </a:pPr>
            <a:r>
              <a:rPr lang="en-US" sz="1400" b="1" dirty="0">
                <a:solidFill>
                  <a:srgbClr val="E2E8F0"/>
                </a:solidFill>
                <a:latin typeface="Calibri" pitchFamily="34" charset="0"/>
                <a:ea typeface="Calibri" pitchFamily="34" charset="-122"/>
                <a:cs typeface="Calibri" pitchFamily="34" charset="-120"/>
              </a:rPr>
              <a:t>GPU Particle Controls</a:t>
            </a:r>
            <a:endParaRPr lang="en-US" sz="1400" dirty="0"/>
          </a:p>
        </p:txBody>
      </p:sp>
      <p:sp>
        <p:nvSpPr>
          <p:cNvPr id="13" name="Text 11"/>
          <p:cNvSpPr/>
          <p:nvPr/>
        </p:nvSpPr>
        <p:spPr>
          <a:xfrm>
            <a:off x="4983480" y="2377440"/>
            <a:ext cx="3291840" cy="548640"/>
          </a:xfrm>
          <a:prstGeom prst="rect">
            <a:avLst/>
          </a:prstGeom>
          <a:noFill/>
          <a:ln/>
        </p:spPr>
        <p:txBody>
          <a:bodyPr wrap="square" lIns="0" tIns="0" rIns="0" bIns="0" rtlCol="0" anchor="ctr"/>
          <a:lstStyle/>
          <a:p>
            <a:pPr indent="0" marL="0">
              <a:lnSpc>
                <a:spcPct val="130000"/>
              </a:lnSpc>
              <a:buNone/>
            </a:pPr>
            <a:r>
              <a:rPr lang="en-US" sz="1000" dirty="0">
                <a:solidFill>
                  <a:srgbClr val="94A3B8"/>
                </a:solidFill>
                <a:latin typeface="Calibri" pitchFamily="34" charset="0"/>
                <a:ea typeface="Calibri" pitchFamily="34" charset="-122"/>
                <a:cs typeface="Calibri" pitchFamily="34" charset="-120"/>
              </a:rPr>
              <a:t>Adjust particle count (50K-1M), flow speed, trail length, and particle size in real-time</a:t>
            </a:r>
            <a:endParaRPr lang="en-US" sz="1000" dirty="0"/>
          </a:p>
        </p:txBody>
      </p:sp>
      <p:sp>
        <p:nvSpPr>
          <p:cNvPr id="14" name="Shape 12"/>
          <p:cNvSpPr/>
          <p:nvPr/>
        </p:nvSpPr>
        <p:spPr>
          <a:xfrm>
            <a:off x="731520" y="3291840"/>
            <a:ext cx="3749040" cy="1097280"/>
          </a:xfrm>
          <a:prstGeom prst="rect">
            <a:avLst>
              <a:gd name="adj" fmla="val 6667"/>
            </a:avLst>
          </a:prstGeom>
          <a:solidFill>
            <a:srgbClr val="1A2236"/>
          </a:solidFill>
          <a:ln/>
        </p:spPr>
      </p:sp>
      <p:sp>
        <p:nvSpPr>
          <p:cNvPr id="15" name="Shape 13"/>
          <p:cNvSpPr/>
          <p:nvPr/>
        </p:nvSpPr>
        <p:spPr>
          <a:xfrm>
            <a:off x="731520" y="3291840"/>
            <a:ext cx="54864" cy="1097280"/>
          </a:xfrm>
          <a:prstGeom prst="rect">
            <a:avLst>
              <a:gd name="adj" fmla="val 50000"/>
            </a:avLst>
          </a:prstGeom>
          <a:solidFill>
            <a:srgbClr val="00B4D8"/>
          </a:solidFill>
          <a:ln/>
        </p:spPr>
      </p:sp>
      <p:sp>
        <p:nvSpPr>
          <p:cNvPr id="16" name="Text 14"/>
          <p:cNvSpPr/>
          <p:nvPr/>
        </p:nvSpPr>
        <p:spPr>
          <a:xfrm>
            <a:off x="960120" y="3401568"/>
            <a:ext cx="3291840" cy="274320"/>
          </a:xfrm>
          <a:prstGeom prst="rect">
            <a:avLst/>
          </a:prstGeom>
          <a:noFill/>
          <a:ln/>
        </p:spPr>
        <p:txBody>
          <a:bodyPr wrap="square" lIns="0" tIns="0" rIns="0" bIns="0" rtlCol="0" anchor="ctr"/>
          <a:lstStyle/>
          <a:p>
            <a:pPr indent="0" marL="0">
              <a:buNone/>
            </a:pPr>
            <a:r>
              <a:rPr lang="en-US" sz="1400" b="1" dirty="0">
                <a:solidFill>
                  <a:srgbClr val="E2E8F0"/>
                </a:solidFill>
                <a:latin typeface="Calibri" pitchFamily="34" charset="0"/>
                <a:ea typeface="Calibri" pitchFamily="34" charset="-122"/>
                <a:cs typeface="Calibri" pitchFamily="34" charset="-120"/>
              </a:rPr>
              <a:t>ArcGIS Dark Basemap</a:t>
            </a:r>
            <a:endParaRPr lang="en-US" sz="1400" dirty="0"/>
          </a:p>
        </p:txBody>
      </p:sp>
      <p:sp>
        <p:nvSpPr>
          <p:cNvPr id="17" name="Text 15"/>
          <p:cNvSpPr/>
          <p:nvPr/>
        </p:nvSpPr>
        <p:spPr>
          <a:xfrm>
            <a:off x="960120" y="3749040"/>
            <a:ext cx="3291840" cy="548640"/>
          </a:xfrm>
          <a:prstGeom prst="rect">
            <a:avLst/>
          </a:prstGeom>
          <a:noFill/>
          <a:ln/>
        </p:spPr>
        <p:txBody>
          <a:bodyPr wrap="square" lIns="0" tIns="0" rIns="0" bIns="0" rtlCol="0" anchor="ctr"/>
          <a:lstStyle/>
          <a:p>
            <a:pPr indent="0" marL="0">
              <a:lnSpc>
                <a:spcPct val="130000"/>
              </a:lnSpc>
              <a:buNone/>
            </a:pPr>
            <a:r>
              <a:rPr lang="en-US" sz="1000" dirty="0">
                <a:solidFill>
                  <a:srgbClr val="94A3B8"/>
                </a:solidFill>
                <a:latin typeface="Calibri" pitchFamily="34" charset="0"/>
                <a:ea typeface="Calibri" pitchFamily="34" charset="-122"/>
                <a:cs typeface="Calibri" pitchFamily="34" charset="-120"/>
              </a:rPr>
              <a:t>Pan and zoom the Web Mercator map. Particles re-spawn to fill the visible extent</a:t>
            </a:r>
            <a:endParaRPr lang="en-US" sz="1000" dirty="0"/>
          </a:p>
        </p:txBody>
      </p:sp>
      <p:sp>
        <p:nvSpPr>
          <p:cNvPr id="18" name="Shape 16"/>
          <p:cNvSpPr/>
          <p:nvPr/>
        </p:nvSpPr>
        <p:spPr>
          <a:xfrm>
            <a:off x="4754880" y="3291840"/>
            <a:ext cx="3749040" cy="1097280"/>
          </a:xfrm>
          <a:prstGeom prst="rect">
            <a:avLst>
              <a:gd name="adj" fmla="val 6667"/>
            </a:avLst>
          </a:prstGeom>
          <a:solidFill>
            <a:srgbClr val="1A2236"/>
          </a:solidFill>
          <a:ln/>
        </p:spPr>
      </p:sp>
      <p:sp>
        <p:nvSpPr>
          <p:cNvPr id="19" name="Shape 17"/>
          <p:cNvSpPr/>
          <p:nvPr/>
        </p:nvSpPr>
        <p:spPr>
          <a:xfrm>
            <a:off x="4754880" y="3291840"/>
            <a:ext cx="54864" cy="1097280"/>
          </a:xfrm>
          <a:prstGeom prst="rect">
            <a:avLst>
              <a:gd name="adj" fmla="val 50000"/>
            </a:avLst>
          </a:prstGeom>
          <a:solidFill>
            <a:srgbClr val="F59E0B"/>
          </a:solidFill>
          <a:ln/>
        </p:spPr>
      </p:sp>
      <p:sp>
        <p:nvSpPr>
          <p:cNvPr id="20" name="Text 18"/>
          <p:cNvSpPr/>
          <p:nvPr/>
        </p:nvSpPr>
        <p:spPr>
          <a:xfrm>
            <a:off x="4983480" y="3401568"/>
            <a:ext cx="3291840" cy="274320"/>
          </a:xfrm>
          <a:prstGeom prst="rect">
            <a:avLst/>
          </a:prstGeom>
          <a:noFill/>
          <a:ln/>
        </p:spPr>
        <p:txBody>
          <a:bodyPr wrap="square" lIns="0" tIns="0" rIns="0" bIns="0" rtlCol="0" anchor="ctr"/>
          <a:lstStyle/>
          <a:p>
            <a:pPr indent="0" marL="0">
              <a:buNone/>
            </a:pPr>
            <a:r>
              <a:rPr lang="en-US" sz="1400" b="1" dirty="0">
                <a:solidFill>
                  <a:srgbClr val="E2E8F0"/>
                </a:solidFill>
                <a:latin typeface="Calibri" pitchFamily="34" charset="0"/>
                <a:ea typeface="Calibri" pitchFamily="34" charset="-122"/>
                <a:cs typeface="Calibri" pitchFamily="34" charset="-120"/>
              </a:rPr>
              <a:t>Automatic Fallback</a:t>
            </a:r>
            <a:endParaRPr lang="en-US" sz="1400" dirty="0"/>
          </a:p>
        </p:txBody>
      </p:sp>
      <p:sp>
        <p:nvSpPr>
          <p:cNvPr id="21" name="Text 19"/>
          <p:cNvSpPr/>
          <p:nvPr/>
        </p:nvSpPr>
        <p:spPr>
          <a:xfrm>
            <a:off x="4983480" y="3749040"/>
            <a:ext cx="3291840" cy="548640"/>
          </a:xfrm>
          <a:prstGeom prst="rect">
            <a:avLst/>
          </a:prstGeom>
          <a:noFill/>
          <a:ln/>
        </p:spPr>
        <p:txBody>
          <a:bodyPr wrap="square" lIns="0" tIns="0" rIns="0" bIns="0" rtlCol="0" anchor="ctr"/>
          <a:lstStyle/>
          <a:p>
            <a:pPr indent="0" marL="0">
              <a:lnSpc>
                <a:spcPct val="130000"/>
              </a:lnSpc>
              <a:buNone/>
            </a:pPr>
            <a:r>
              <a:rPr lang="en-US" sz="1000" dirty="0">
                <a:solidFill>
                  <a:srgbClr val="94A3B8"/>
                </a:solidFill>
                <a:latin typeface="Calibri" pitchFamily="34" charset="0"/>
                <a:ea typeface="Calibri" pitchFamily="34" charset="-122"/>
                <a:cs typeface="Calibri" pitchFamily="34" charset="-120"/>
              </a:rPr>
              <a:t>WebGPU (500K particles) on NVIDIA GPUs, Canvas 2D (8K particles) on older browsers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p:spPr>
      </p:sp>
      <p:sp>
        <p:nvSpPr>
          <p:cNvPr id="3" name="Text 1"/>
          <p:cNvSpPr/>
          <p:nvPr/>
        </p:nvSpPr>
        <p:spPr>
          <a:xfrm>
            <a:off x="731520" y="914400"/>
            <a:ext cx="7315200" cy="731520"/>
          </a:xfrm>
          <a:prstGeom prst="rect">
            <a:avLst/>
          </a:prstGeom>
          <a:noFill/>
          <a:ln/>
        </p:spPr>
        <p:txBody>
          <a:bodyPr wrap="square" lIns="0" tIns="0" rIns="0" bIns="0" rtlCol="0" anchor="ctr"/>
          <a:lstStyle/>
          <a:p>
            <a:pPr indent="0" marL="0">
              <a:buNone/>
            </a:pPr>
            <a:r>
              <a:rPr lang="en-US" sz="4400" dirty="0">
                <a:solidFill>
                  <a:srgbClr val="E2E8F0"/>
                </a:solidFill>
                <a:latin typeface="Arial Black" pitchFamily="34" charset="0"/>
                <a:ea typeface="Arial Black" pitchFamily="34" charset="-122"/>
                <a:cs typeface="Arial Black" pitchFamily="34" charset="-120"/>
              </a:rPr>
              <a:t>Thank You</a:t>
            </a:r>
            <a:endParaRPr lang="en-US" sz="4400" dirty="0"/>
          </a:p>
        </p:txBody>
      </p:sp>
      <p:sp>
        <p:nvSpPr>
          <p:cNvPr id="4" name="Text 2"/>
          <p:cNvSpPr/>
          <p:nvPr/>
        </p:nvSpPr>
        <p:spPr>
          <a:xfrm>
            <a:off x="731520" y="1828800"/>
            <a:ext cx="7315200" cy="457200"/>
          </a:xfrm>
          <a:prstGeom prst="rect">
            <a:avLst/>
          </a:prstGeom>
          <a:noFill/>
          <a:ln/>
        </p:spPr>
        <p:txBody>
          <a:bodyPr wrap="square" lIns="0" tIns="0" rIns="0" bIns="0" rtlCol="0" anchor="ctr"/>
          <a:lstStyle/>
          <a:p>
            <a:pPr indent="0" marL="0">
              <a:buNone/>
            </a:pPr>
            <a:r>
              <a:rPr lang="en-US" sz="2000" dirty="0">
                <a:solidFill>
                  <a:srgbClr val="00B4D8"/>
                </a:solidFill>
                <a:latin typeface="Calibri" pitchFamily="34" charset="0"/>
                <a:ea typeface="Calibri" pitchFamily="34" charset="-122"/>
                <a:cs typeface="Calibri" pitchFamily="34" charset="-120"/>
              </a:rPr>
              <a:t>Jhonatan Garrido-Lecca</a:t>
            </a:r>
            <a:endParaRPr lang="en-US" sz="2000" dirty="0"/>
          </a:p>
        </p:txBody>
      </p:sp>
      <p:sp>
        <p:nvSpPr>
          <p:cNvPr id="5" name="Text 3"/>
          <p:cNvSpPr/>
          <p:nvPr/>
        </p:nvSpPr>
        <p:spPr>
          <a:xfrm>
            <a:off x="731520" y="2468880"/>
            <a:ext cx="7315200" cy="365760"/>
          </a:xfrm>
          <a:prstGeom prst="rect">
            <a:avLst/>
          </a:prstGeom>
          <a:noFill/>
          <a:ln/>
        </p:spPr>
        <p:txBody>
          <a:bodyPr wrap="square" lIns="0" tIns="0" rIns="0" bIns="0" rtlCol="0" anchor="ctr"/>
          <a:lstStyle/>
          <a:p>
            <a:pPr indent="0" marL="0">
              <a:buNone/>
            </a:pPr>
            <a:r>
              <a:rPr lang="en-US" sz="1400" dirty="0">
                <a:solidFill>
                  <a:srgbClr val="94A3B8"/>
                </a:solidFill>
                <a:latin typeface="Consolas" pitchFamily="34" charset="0"/>
                <a:ea typeface="Consolas" pitchFamily="34" charset="-122"/>
                <a:cs typeface="Consolas" pitchFamily="34" charset="-120"/>
              </a:rPr>
              <a:t>garridolecca.github.io/aerosols-globe</a:t>
            </a:r>
            <a:endParaRPr lang="en-US" sz="1400" dirty="0"/>
          </a:p>
        </p:txBody>
      </p:sp>
      <p:sp>
        <p:nvSpPr>
          <p:cNvPr id="6" name="Shape 4"/>
          <p:cNvSpPr/>
          <p:nvPr/>
        </p:nvSpPr>
        <p:spPr>
          <a:xfrm>
            <a:off x="731520" y="3200400"/>
            <a:ext cx="1508760" cy="502920"/>
          </a:xfrm>
          <a:prstGeom prst="rect">
            <a:avLst>
              <a:gd name="adj" fmla="val 10909"/>
            </a:avLst>
          </a:prstGeom>
          <a:solidFill>
            <a:srgbClr val="1A2236"/>
          </a:solidFill>
          <a:ln/>
        </p:spPr>
      </p:sp>
      <p:sp>
        <p:nvSpPr>
          <p:cNvPr id="7" name="Text 5"/>
          <p:cNvSpPr/>
          <p:nvPr/>
        </p:nvSpPr>
        <p:spPr>
          <a:xfrm>
            <a:off x="731520" y="3200400"/>
            <a:ext cx="1508760" cy="502920"/>
          </a:xfrm>
          <a:prstGeom prst="rect">
            <a:avLst/>
          </a:prstGeom>
          <a:noFill/>
          <a:ln/>
        </p:spPr>
        <p:txBody>
          <a:bodyPr wrap="square" lIns="0" tIns="0" rIns="0" bIns="0" rtlCol="0" anchor="ctr"/>
          <a:lstStyle/>
          <a:p>
            <a:pPr algn="ctr" indent="0" marL="0">
              <a:buNone/>
            </a:pPr>
            <a:r>
              <a:rPr lang="en-US" sz="900" b="1" dirty="0">
                <a:solidFill>
                  <a:srgbClr val="00B4D8"/>
                </a:solidFill>
                <a:latin typeface="Calibri" pitchFamily="34" charset="0"/>
                <a:ea typeface="Calibri" pitchFamily="34" charset="-122"/>
                <a:cs typeface="Calibri" pitchFamily="34" charset="-120"/>
              </a:rPr>
              <a:t>NASA GEOS-FP</a:t>
            </a:r>
            <a:endParaRPr lang="en-US" sz="900" dirty="0"/>
          </a:p>
        </p:txBody>
      </p:sp>
      <p:sp>
        <p:nvSpPr>
          <p:cNvPr id="8" name="Shape 6"/>
          <p:cNvSpPr/>
          <p:nvPr/>
        </p:nvSpPr>
        <p:spPr>
          <a:xfrm>
            <a:off x="2377440" y="3200400"/>
            <a:ext cx="1508760" cy="502920"/>
          </a:xfrm>
          <a:prstGeom prst="rect">
            <a:avLst>
              <a:gd name="adj" fmla="val 10909"/>
            </a:avLst>
          </a:prstGeom>
          <a:solidFill>
            <a:srgbClr val="1A2236"/>
          </a:solidFill>
          <a:ln/>
        </p:spPr>
      </p:sp>
      <p:sp>
        <p:nvSpPr>
          <p:cNvPr id="9" name="Text 7"/>
          <p:cNvSpPr/>
          <p:nvPr/>
        </p:nvSpPr>
        <p:spPr>
          <a:xfrm>
            <a:off x="2377440" y="3200400"/>
            <a:ext cx="1508760" cy="502920"/>
          </a:xfrm>
          <a:prstGeom prst="rect">
            <a:avLst/>
          </a:prstGeom>
          <a:noFill/>
          <a:ln/>
        </p:spPr>
        <p:txBody>
          <a:bodyPr wrap="square" lIns="0" tIns="0" rIns="0" bIns="0" rtlCol="0" anchor="ctr"/>
          <a:lstStyle/>
          <a:p>
            <a:pPr algn="ctr" indent="0" marL="0">
              <a:buNone/>
            </a:pPr>
            <a:r>
              <a:rPr lang="en-US" sz="900" b="1" dirty="0">
                <a:solidFill>
                  <a:srgbClr val="76B900"/>
                </a:solidFill>
                <a:latin typeface="Calibri" pitchFamily="34" charset="0"/>
                <a:ea typeface="Calibri" pitchFamily="34" charset="-122"/>
                <a:cs typeface="Calibri" pitchFamily="34" charset="-120"/>
              </a:rPr>
              <a:t>NVIDIA WebGPU</a:t>
            </a:r>
            <a:endParaRPr lang="en-US" sz="900" dirty="0"/>
          </a:p>
        </p:txBody>
      </p:sp>
      <p:sp>
        <p:nvSpPr>
          <p:cNvPr id="10" name="Shape 8"/>
          <p:cNvSpPr/>
          <p:nvPr/>
        </p:nvSpPr>
        <p:spPr>
          <a:xfrm>
            <a:off x="4023360" y="3200400"/>
            <a:ext cx="1508760" cy="502920"/>
          </a:xfrm>
          <a:prstGeom prst="rect">
            <a:avLst>
              <a:gd name="adj" fmla="val 10909"/>
            </a:avLst>
          </a:prstGeom>
          <a:solidFill>
            <a:srgbClr val="1A2236"/>
          </a:solidFill>
          <a:ln/>
        </p:spPr>
      </p:sp>
      <p:sp>
        <p:nvSpPr>
          <p:cNvPr id="11" name="Text 9"/>
          <p:cNvSpPr/>
          <p:nvPr/>
        </p:nvSpPr>
        <p:spPr>
          <a:xfrm>
            <a:off x="4023360" y="3200400"/>
            <a:ext cx="1508760" cy="502920"/>
          </a:xfrm>
          <a:prstGeom prst="rect">
            <a:avLst/>
          </a:prstGeom>
          <a:noFill/>
          <a:ln/>
        </p:spPr>
        <p:txBody>
          <a:bodyPr wrap="square" lIns="0" tIns="0" rIns="0" bIns="0" rtlCol="0" anchor="ctr"/>
          <a:lstStyle/>
          <a:p>
            <a:pPr algn="ctr" indent="0" marL="0">
              <a:buNone/>
            </a:pPr>
            <a:r>
              <a:rPr lang="en-US" sz="900" b="1" dirty="0">
                <a:solidFill>
                  <a:srgbClr val="0079C1"/>
                </a:solidFill>
                <a:latin typeface="Calibri" pitchFamily="34" charset="0"/>
                <a:ea typeface="Calibri" pitchFamily="34" charset="-122"/>
                <a:cs typeface="Calibri" pitchFamily="34" charset="-120"/>
              </a:rPr>
              <a:t>ArcGIS SDK 5.0</a:t>
            </a:r>
            <a:endParaRPr lang="en-US" sz="900" dirty="0"/>
          </a:p>
        </p:txBody>
      </p:sp>
      <p:sp>
        <p:nvSpPr>
          <p:cNvPr id="12" name="Shape 10"/>
          <p:cNvSpPr/>
          <p:nvPr/>
        </p:nvSpPr>
        <p:spPr>
          <a:xfrm>
            <a:off x="5669280" y="3200400"/>
            <a:ext cx="1508760" cy="502920"/>
          </a:xfrm>
          <a:prstGeom prst="rect">
            <a:avLst>
              <a:gd name="adj" fmla="val 10909"/>
            </a:avLst>
          </a:prstGeom>
          <a:solidFill>
            <a:srgbClr val="1A2236"/>
          </a:solidFill>
          <a:ln/>
        </p:spPr>
      </p:sp>
      <p:sp>
        <p:nvSpPr>
          <p:cNvPr id="13" name="Text 11"/>
          <p:cNvSpPr/>
          <p:nvPr/>
        </p:nvSpPr>
        <p:spPr>
          <a:xfrm>
            <a:off x="5669280" y="3200400"/>
            <a:ext cx="1508760" cy="502920"/>
          </a:xfrm>
          <a:prstGeom prst="rect">
            <a:avLst/>
          </a:prstGeom>
          <a:noFill/>
          <a:ln/>
        </p:spPr>
        <p:txBody>
          <a:bodyPr wrap="square" lIns="0" tIns="0" rIns="0" bIns="0" rtlCol="0" anchor="ctr"/>
          <a:lstStyle/>
          <a:p>
            <a:pPr algn="ctr" indent="0" marL="0">
              <a:buNone/>
            </a:pPr>
            <a:r>
              <a:rPr lang="en-US" sz="900" b="1" dirty="0">
                <a:solidFill>
                  <a:srgbClr val="8B5CF6"/>
                </a:solidFill>
                <a:latin typeface="Calibri" pitchFamily="34" charset="0"/>
                <a:ea typeface="Calibri" pitchFamily="34" charset="-122"/>
                <a:cs typeface="Calibri" pitchFamily="34" charset="-120"/>
              </a:rPr>
              <a:t>Python + xarray</a:t>
            </a:r>
            <a:endParaRPr lang="en-US" sz="900" dirty="0"/>
          </a:p>
        </p:txBody>
      </p:sp>
      <p:sp>
        <p:nvSpPr>
          <p:cNvPr id="14" name="Shape 12"/>
          <p:cNvSpPr/>
          <p:nvPr/>
        </p:nvSpPr>
        <p:spPr>
          <a:xfrm>
            <a:off x="7315200" y="3200400"/>
            <a:ext cx="1508760" cy="502920"/>
          </a:xfrm>
          <a:prstGeom prst="rect">
            <a:avLst>
              <a:gd name="adj" fmla="val 10909"/>
            </a:avLst>
          </a:prstGeom>
          <a:solidFill>
            <a:srgbClr val="1A2236"/>
          </a:solidFill>
          <a:ln/>
        </p:spPr>
      </p:sp>
      <p:sp>
        <p:nvSpPr>
          <p:cNvPr id="15" name="Text 13"/>
          <p:cNvSpPr/>
          <p:nvPr/>
        </p:nvSpPr>
        <p:spPr>
          <a:xfrm>
            <a:off x="7315200" y="3200400"/>
            <a:ext cx="1508760" cy="502920"/>
          </a:xfrm>
          <a:prstGeom prst="rect">
            <a:avLst/>
          </a:prstGeom>
          <a:noFill/>
          <a:ln/>
        </p:spPr>
        <p:txBody>
          <a:bodyPr wrap="square" lIns="0" tIns="0" rIns="0" bIns="0" rtlCol="0" anchor="ctr"/>
          <a:lstStyle/>
          <a:p>
            <a:pPr algn="ctr" indent="0" marL="0">
              <a:buNone/>
            </a:pPr>
            <a:r>
              <a:rPr lang="en-US" sz="900" b="1" dirty="0">
                <a:solidFill>
                  <a:srgbClr val="94A3B8"/>
                </a:solidFill>
                <a:latin typeface="Calibri" pitchFamily="34" charset="0"/>
                <a:ea typeface="Calibri" pitchFamily="34" charset="-122"/>
                <a:cs typeface="Calibri" pitchFamily="34" charset="-120"/>
              </a:rPr>
              <a:t>GitHub Pages</a:t>
            </a:r>
            <a:endParaRPr lang="en-US" sz="900" dirty="0"/>
          </a:p>
        </p:txBody>
      </p:sp>
      <p:sp>
        <p:nvSpPr>
          <p:cNvPr id="16" name="Text 14"/>
          <p:cNvSpPr/>
          <p:nvPr/>
        </p:nvSpPr>
        <p:spPr>
          <a:xfrm>
            <a:off x="731520" y="4114800"/>
            <a:ext cx="73152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Open source | Real NASA data | GPU-accelerated | Zero dependencies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Earth in Action: Aerosols — GPU-Accelerated Atmospheric Visualization</dc:title>
  <dc:subject>PptxGenJS Presentation</dc:subject>
  <dc:creator>Jhonatan Garrido-Lecca</dc:creator>
  <cp:lastModifiedBy>Jhonatan Garrido-Lecca</cp:lastModifiedBy>
  <cp:revision>1</cp:revision>
  <dcterms:created xsi:type="dcterms:W3CDTF">2026-03-18T05:47:07Z</dcterms:created>
  <dcterms:modified xsi:type="dcterms:W3CDTF">2026-03-18T05:47:07Z</dcterms:modified>
</cp:coreProperties>
</file>